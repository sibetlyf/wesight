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3A5F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1876425" y="923925"/>
            <a:ext cx="3867150" cy="1485900"/>
            <a:chOff x="1876425" y="923925"/>
            <a:chExt cx="3867150" cy="1485900"/>
          </a:xfrm>
        </p:grpSpPr>
        <p:sp>
          <p:nvSpPr>
            <p:cNvPr id="4" name="Ellipse 4"/>
            <p:cNvSpPr/>
            <p:nvPr/>
          </p:nvSpPr>
          <p:spPr>
            <a:xfrm>
              <a:off x="1876425" y="1400175"/>
              <a:ext cx="57150" cy="5715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9525">
              <a:gradFill>
                <a:gsLst>
                  <a:gs pos="0">
                    <a:srgbClr val="00D4FF">
                      <a:alpha val="20000"/>
                    </a:srgbClr>
                  </a:gs>
                  <a:gs pos="100000">
                    <a:srgbClr val="0066CC">
                      <a:alpha val="20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5" name="Ellipse 5"/>
            <p:cNvSpPr/>
            <p:nvPr/>
          </p:nvSpPr>
          <p:spPr>
            <a:xfrm>
              <a:off x="3781425" y="923925"/>
              <a:ext cx="57150" cy="5715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9525">
              <a:gradFill>
                <a:gsLst>
                  <a:gs pos="0">
                    <a:srgbClr val="00D4FF">
                      <a:alpha val="20000"/>
                    </a:srgbClr>
                  </a:gs>
                  <a:gs pos="100000">
                    <a:srgbClr val="0066CC">
                      <a:alpha val="20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686425" y="1685925"/>
              <a:ext cx="57150" cy="5715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9525">
              <a:gradFill>
                <a:gsLst>
                  <a:gs pos="0">
                    <a:srgbClr val="00D4FF">
                      <a:alpha val="20000"/>
                    </a:srgbClr>
                  </a:gs>
                  <a:gs pos="100000">
                    <a:srgbClr val="0066CC">
                      <a:alpha val="20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828925" y="2352675"/>
              <a:ext cx="57150" cy="57150"/>
            </a:xfrm>
            <a:prstGeom prst="ellipse">
              <a:avLst/>
            </a:prstGeom>
            <a:solidFill>
              <a:srgbClr val="00D4FF">
                <a:alpha val="20000"/>
              </a:srgbClr>
            </a:solidFill>
            <a:ln w="9525">
              <a:gradFill>
                <a:gsLst>
                  <a:gs pos="0">
                    <a:srgbClr val="00D4FF">
                      <a:alpha val="20000"/>
                    </a:srgbClr>
                  </a:gs>
                  <a:gs pos="100000">
                    <a:srgbClr val="0066CC">
                      <a:alpha val="20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8" name="Line 8"/>
            <p:cNvSpPr/>
            <p:nvPr/>
          </p:nvSpPr>
          <p:spPr>
            <a:xfrm>
              <a:off x="1905000" y="952500"/>
              <a:ext cx="1905000" cy="476250"/>
            </a:xfrm>
            <a:custGeom>
              <a:avLst/>
              <a:gdLst/>
              <a:ahLst/>
              <a:cxnLst/>
              <a:rect l="l" t="t" r="r" b="b"/>
              <a:pathLst>
                <a:path w="1905000" h="476250">
                  <a:moveTo>
                    <a:pt x="0" y="47625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gradFill>
                <a:gsLst>
                  <a:gs pos="0">
                    <a:srgbClr val="00D4FF">
                      <a:alpha val="20000"/>
                    </a:srgbClr>
                  </a:gs>
                  <a:gs pos="100000">
                    <a:srgbClr val="0066CC">
                      <a:alpha val="20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9" name="Line 9"/>
            <p:cNvSpPr/>
            <p:nvPr/>
          </p:nvSpPr>
          <p:spPr>
            <a:xfrm>
              <a:off x="3810000" y="952500"/>
              <a:ext cx="1905000" cy="762000"/>
            </a:xfrm>
            <a:custGeom>
              <a:avLst/>
              <a:gdLst/>
              <a:ahLst/>
              <a:cxnLst/>
              <a:rect l="l" t="t" r="r" b="b"/>
              <a:pathLst>
                <a:path w="1905000" h="762000">
                  <a:moveTo>
                    <a:pt x="0" y="0"/>
                  </a:moveTo>
                  <a:lnTo>
                    <a:pt x="1905000" y="762000"/>
                  </a:lnTo>
                </a:path>
              </a:pathLst>
            </a:custGeom>
            <a:noFill/>
            <a:ln w="9525">
              <a:gradFill>
                <a:gsLst>
                  <a:gs pos="0">
                    <a:srgbClr val="00D4FF">
                      <a:alpha val="20000"/>
                    </a:srgbClr>
                  </a:gs>
                  <a:gs pos="100000">
                    <a:srgbClr val="0066CC">
                      <a:alpha val="20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0" name="Line 10"/>
            <p:cNvSpPr/>
            <p:nvPr/>
          </p:nvSpPr>
          <p:spPr>
            <a:xfrm>
              <a:off x="2857500" y="952500"/>
              <a:ext cx="952500" cy="1428750"/>
            </a:xfrm>
            <a:custGeom>
              <a:avLst/>
              <a:gdLst/>
              <a:ahLst/>
              <a:cxnLst/>
              <a:rect l="l" t="t" r="r" b="b"/>
              <a:pathLst>
                <a:path w="952500" h="1428750">
                  <a:moveTo>
                    <a:pt x="0" y="1428750"/>
                  </a:moveTo>
                  <a:lnTo>
                    <a:pt x="952500" y="0"/>
                  </a:lnTo>
                </a:path>
              </a:pathLst>
            </a:custGeom>
            <a:noFill/>
            <a:ln w="9525">
              <a:gradFill>
                <a:gsLst>
                  <a:gs pos="0">
                    <a:srgbClr val="00D4FF">
                      <a:alpha val="20000"/>
                    </a:srgbClr>
                  </a:gs>
                  <a:gs pos="100000">
                    <a:srgbClr val="0066CC">
                      <a:alpha val="20000"/>
                    </a:srgbClr>
                  </a:gs>
                </a:gsLst>
                <a:lin ang="0" scaled="1"/>
              </a:gradFill>
            </a:ln>
          </p:spPr>
        </p:sp>
        <p:sp>
          <p:nvSpPr>
            <p:cNvPr id="11" name="Line 11"/>
            <p:cNvSpPr/>
            <p:nvPr/>
          </p:nvSpPr>
          <p:spPr>
            <a:xfrm>
              <a:off x="1905000" y="1428750"/>
              <a:ext cx="952500" cy="952500"/>
            </a:xfrm>
            <a:custGeom>
              <a:avLst/>
              <a:gdLst/>
              <a:ahLst/>
              <a:cxnLst/>
              <a:rect l="l" t="t" r="r" b="b"/>
              <a:pathLst>
                <a:path w="952500" h="952500">
                  <a:moveTo>
                    <a:pt x="0" y="0"/>
                  </a:moveTo>
                  <a:lnTo>
                    <a:pt x="952500" y="952500"/>
                  </a:lnTo>
                </a:path>
              </a:pathLst>
            </a:custGeom>
            <a:noFill/>
            <a:ln w="9525">
              <a:gradFill>
                <a:gsLst>
                  <a:gs pos="0">
                    <a:srgbClr val="00D4FF">
                      <a:alpha val="20000"/>
                    </a:srgbClr>
                  </a:gs>
                  <a:gs pos="100000">
                    <a:srgbClr val="0066CC">
                      <a:alpha val="20000"/>
                    </a:srgbClr>
                  </a:gs>
                </a:gsLst>
                <a:lin ang="0" scaled="1"/>
              </a:gra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339197" y="2213610"/>
            <a:ext cx="7513606" cy="853440"/>
          </a:xfrm>
          <a:prstGeom prst="rect">
            <a:avLst/>
          </a:prstGeom>
          <a:noFill/>
          <a:ln>
            <a:noFill/>
          </a:ln>
          <a:effectLst>
            <a:glow rad="57150">
              <a:srgbClr val="000000">
                <a:alpha val="30000"/>
              </a:srgbClr>
            </a:glow>
          </a:effectLst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2026 年人工智能发展趋势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29100" y="3011805"/>
            <a:ext cx="373380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面向企业决策者的战略洞察</a:t>
            </a:r>
          </a:p>
        </p:txBody>
      </p:sp>
      <p:sp>
        <p:nvSpPr>
          <p:cNvPr id="15" name="Freeform 15"/>
          <p:cNvSpPr/>
          <p:nvPr/>
        </p:nvSpPr>
        <p:spPr>
          <a:xfrm>
            <a:off x="4191000" y="3476625"/>
            <a:ext cx="3810000" cy="38100"/>
          </a:xfrm>
          <a:custGeom>
            <a:avLst/>
            <a:gdLst/>
            <a:ahLst/>
            <a:cxnLst/>
            <a:rect l="l" t="t" r="r" b="b"/>
            <a:pathLst>
              <a:path w="3810000" h="38100">
                <a:moveTo>
                  <a:pt x="19050" y="0"/>
                </a:moveTo>
                <a:lnTo>
                  <a:pt x="3790950" y="0"/>
                </a:lnTo>
                <a:cubicBezTo>
                  <a:pt x="3801471" y="0"/>
                  <a:pt x="3810000" y="8529"/>
                  <a:pt x="3810000" y="19050"/>
                </a:cubicBezTo>
                <a:lnTo>
                  <a:pt x="3810000" y="19050"/>
                </a:lnTo>
                <a:cubicBezTo>
                  <a:pt x="3810000" y="29571"/>
                  <a:pt x="3801471" y="38100"/>
                  <a:pt x="3790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00D4FF"/>
              </a:gs>
              <a:gs pos="100000">
                <a:srgbClr val="0066CC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4279963" y="5775960"/>
            <a:ext cx="3632073" cy="515302"/>
            <a:chOff x="4279963" y="5775960"/>
            <a:chExt cx="3632073" cy="515302"/>
          </a:xfrm>
        </p:grpSpPr>
        <p:sp>
          <p:nvSpPr>
            <p:cNvPr id="16" name="TextBox 16"/>
            <p:cNvSpPr txBox="1"/>
            <p:nvPr/>
          </p:nvSpPr>
          <p:spPr>
            <a:xfrm>
              <a:off x="4279963" y="5775960"/>
              <a:ext cx="36320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Strategic Insights for Enterprise Leaders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13977" y="6077902"/>
              <a:ext cx="364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2026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0" y="0"/>
            <a:ext cx="1428750" cy="1428750"/>
          </a:xfrm>
          <a:prstGeom prst="rect">
            <a:avLst/>
          </a:prstGeom>
          <a:gradFill>
            <a:gsLst>
              <a:gs pos="0">
                <a:srgbClr val="00D4FF">
                  <a:alpha val="10000"/>
                </a:srgbClr>
              </a:gs>
              <a:gs pos="100000">
                <a:srgbClr val="0066CC">
                  <a:alpha val="1000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10763250" y="5429250"/>
            <a:ext cx="1428750" cy="1428750"/>
          </a:xfrm>
          <a:prstGeom prst="rect">
            <a:avLst/>
          </a:prstGeom>
          <a:gradFill>
            <a:gsLst>
              <a:gs pos="0">
                <a:srgbClr val="00D4FF">
                  <a:alpha val="10000"/>
                </a:srgbClr>
              </a:gs>
              <a:gs pos="100000">
                <a:srgbClr val="0066CC">
                  <a:alpha val="10000"/>
                </a:srgbClr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2E8F0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8640" y="520065"/>
            <a:ext cx="352901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2026 AI Development Trends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84136" y="1374458"/>
            <a:ext cx="382372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1E3A5F"/>
                </a:solidFill>
                <a:latin typeface="Arial"/>
                <a:ea typeface="Microsoft YaHei"/>
                <a:cs typeface="Arial"/>
              </a:rPr>
              <a:t>目录 / CONTENTS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14500" y="2286000"/>
            <a:ext cx="4000500" cy="1333500"/>
            <a:chOff x="1714500" y="2286000"/>
            <a:chExt cx="4000500" cy="1333500"/>
          </a:xfrm>
        </p:grpSpPr>
        <p:sp>
          <p:nvSpPr>
            <p:cNvPr id="6" name="Freeform 6"/>
            <p:cNvSpPr/>
            <p:nvPr/>
          </p:nvSpPr>
          <p:spPr>
            <a:xfrm>
              <a:off x="1714500" y="2286000"/>
              <a:ext cx="4000500" cy="1333500"/>
            </a:xfrm>
            <a:custGeom>
              <a:avLst/>
              <a:gdLst/>
              <a:ahLst/>
              <a:cxnLst/>
              <a:rect l="l" t="t" r="r" b="b"/>
              <a:pathLst>
                <a:path w="4000500" h="1333500">
                  <a:moveTo>
                    <a:pt x="76200" y="0"/>
                  </a:moveTo>
                  <a:lnTo>
                    <a:pt x="3924300" y="0"/>
                  </a:lnTo>
                  <a:cubicBezTo>
                    <a:pt x="3966384" y="0"/>
                    <a:pt x="4000500" y="34116"/>
                    <a:pt x="4000500" y="76200"/>
                  </a:cubicBezTo>
                  <a:lnTo>
                    <a:pt x="4000500" y="1257300"/>
                  </a:lnTo>
                  <a:cubicBezTo>
                    <a:pt x="4000500" y="1299384"/>
                    <a:pt x="3966384" y="1333500"/>
                    <a:pt x="3924300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714500" y="2286000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73580" y="2487930"/>
              <a:ext cx="32707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81200" y="2933700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大模型进化方向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86915" y="3268028"/>
              <a:ext cx="10387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LLM Evolution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77000" y="2286000"/>
            <a:ext cx="4000500" cy="1333500"/>
            <a:chOff x="6477000" y="2286000"/>
            <a:chExt cx="4000500" cy="1333500"/>
          </a:xfrm>
        </p:grpSpPr>
        <p:sp>
          <p:nvSpPr>
            <p:cNvPr id="12" name="Freeform 12"/>
            <p:cNvSpPr/>
            <p:nvPr/>
          </p:nvSpPr>
          <p:spPr>
            <a:xfrm>
              <a:off x="6477000" y="2286000"/>
              <a:ext cx="4000500" cy="1333500"/>
            </a:xfrm>
            <a:custGeom>
              <a:avLst/>
              <a:gdLst/>
              <a:ahLst/>
              <a:cxnLst/>
              <a:rect l="l" t="t" r="r" b="b"/>
              <a:pathLst>
                <a:path w="4000500" h="1333500">
                  <a:moveTo>
                    <a:pt x="76200" y="0"/>
                  </a:moveTo>
                  <a:lnTo>
                    <a:pt x="3924300" y="0"/>
                  </a:lnTo>
                  <a:cubicBezTo>
                    <a:pt x="3966384" y="0"/>
                    <a:pt x="4000500" y="34116"/>
                    <a:pt x="4000500" y="76200"/>
                  </a:cubicBezTo>
                  <a:lnTo>
                    <a:pt x="4000500" y="1257300"/>
                  </a:lnTo>
                  <a:cubicBezTo>
                    <a:pt x="4000500" y="1299384"/>
                    <a:pt x="3966384" y="1333500"/>
                    <a:pt x="3924300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477000" y="2286000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36080" y="2487930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43700" y="2933700"/>
              <a:ext cx="14511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多模态 AI 应用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49415" y="3268028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Multimodal AI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14500" y="4000500"/>
            <a:ext cx="4000500" cy="1333500"/>
            <a:chOff x="1714500" y="4000500"/>
            <a:chExt cx="4000500" cy="1333500"/>
          </a:xfrm>
        </p:grpSpPr>
        <p:sp>
          <p:nvSpPr>
            <p:cNvPr id="18" name="Freeform 18"/>
            <p:cNvSpPr/>
            <p:nvPr/>
          </p:nvSpPr>
          <p:spPr>
            <a:xfrm>
              <a:off x="1714500" y="4000500"/>
              <a:ext cx="4000500" cy="1333500"/>
            </a:xfrm>
            <a:custGeom>
              <a:avLst/>
              <a:gdLst/>
              <a:ahLst/>
              <a:cxnLst/>
              <a:rect l="l" t="t" r="r" b="b"/>
              <a:pathLst>
                <a:path w="4000500" h="1333500">
                  <a:moveTo>
                    <a:pt x="76200" y="0"/>
                  </a:moveTo>
                  <a:lnTo>
                    <a:pt x="3924300" y="0"/>
                  </a:lnTo>
                  <a:cubicBezTo>
                    <a:pt x="3966384" y="0"/>
                    <a:pt x="4000500" y="34116"/>
                    <a:pt x="4000500" y="76200"/>
                  </a:cubicBezTo>
                  <a:lnTo>
                    <a:pt x="4000500" y="1257300"/>
                  </a:lnTo>
                  <a:cubicBezTo>
                    <a:pt x="4000500" y="1299384"/>
                    <a:pt x="3966384" y="1333500"/>
                    <a:pt x="3924300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714500" y="4000500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73580" y="4202430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81200" y="4648200"/>
              <a:ext cx="13854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AI 与行业融合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86915" y="4982528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Industry Integration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77000" y="4000500"/>
            <a:ext cx="4000500" cy="1333500"/>
            <a:chOff x="6477000" y="4000500"/>
            <a:chExt cx="4000500" cy="1333500"/>
          </a:xfrm>
        </p:grpSpPr>
        <p:sp>
          <p:nvSpPr>
            <p:cNvPr id="24" name="Freeform 24"/>
            <p:cNvSpPr/>
            <p:nvPr/>
          </p:nvSpPr>
          <p:spPr>
            <a:xfrm>
              <a:off x="6477000" y="4000500"/>
              <a:ext cx="4000500" cy="1333500"/>
            </a:xfrm>
            <a:custGeom>
              <a:avLst/>
              <a:gdLst/>
              <a:ahLst/>
              <a:cxnLst/>
              <a:rect l="l" t="t" r="r" b="b"/>
              <a:pathLst>
                <a:path w="4000500" h="1333500">
                  <a:moveTo>
                    <a:pt x="76200" y="0"/>
                  </a:moveTo>
                  <a:lnTo>
                    <a:pt x="3924300" y="0"/>
                  </a:lnTo>
                  <a:cubicBezTo>
                    <a:pt x="3966384" y="0"/>
                    <a:pt x="4000500" y="34116"/>
                    <a:pt x="4000500" y="76200"/>
                  </a:cubicBezTo>
                  <a:lnTo>
                    <a:pt x="4000500" y="1257300"/>
                  </a:lnTo>
                  <a:cubicBezTo>
                    <a:pt x="4000500" y="1299384"/>
                    <a:pt x="3966384" y="1333500"/>
                    <a:pt x="3924300" y="1333500"/>
                  </a:cubicBezTo>
                  <a:lnTo>
                    <a:pt x="76200" y="1333500"/>
                  </a:lnTo>
                  <a:cubicBezTo>
                    <a:pt x="34116" y="1333500"/>
                    <a:pt x="0" y="1299384"/>
                    <a:pt x="0" y="1257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477000" y="4000500"/>
              <a:ext cx="57150" cy="1333500"/>
            </a:xfrm>
            <a:custGeom>
              <a:avLst/>
              <a:gdLst/>
              <a:ahLst/>
              <a:cxnLst/>
              <a:rect l="l" t="t" r="r" b="b"/>
              <a:pathLst>
                <a:path w="57150" h="13335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1304925"/>
                  </a:lnTo>
                  <a:cubicBezTo>
                    <a:pt x="57150" y="1320707"/>
                    <a:pt x="44357" y="1333500"/>
                    <a:pt x="28575" y="1333500"/>
                  </a:cubicBezTo>
                  <a:lnTo>
                    <a:pt x="28575" y="1333500"/>
                  </a:lnTo>
                  <a:cubicBezTo>
                    <a:pt x="12793" y="1333500"/>
                    <a:pt x="0" y="1320707"/>
                    <a:pt x="0" y="13049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36080" y="4202430"/>
              <a:ext cx="4075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43700" y="4648200"/>
              <a:ext cx="12320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边缘 AI 部署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49415" y="4982528"/>
              <a:ext cx="5404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Edge AI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714500" y="5715000"/>
            <a:ext cx="4000500" cy="762000"/>
            <a:chOff x="1714500" y="5715000"/>
            <a:chExt cx="4000500" cy="762000"/>
          </a:xfrm>
        </p:grpSpPr>
        <p:sp>
          <p:nvSpPr>
            <p:cNvPr id="30" name="Freeform 30"/>
            <p:cNvSpPr/>
            <p:nvPr/>
          </p:nvSpPr>
          <p:spPr>
            <a:xfrm>
              <a:off x="1714500" y="5715000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76200" y="0"/>
                  </a:moveTo>
                  <a:lnTo>
                    <a:pt x="3924300" y="0"/>
                  </a:lnTo>
                  <a:cubicBezTo>
                    <a:pt x="3966384" y="0"/>
                    <a:pt x="4000500" y="34116"/>
                    <a:pt x="4000500" y="76200"/>
                  </a:cubicBezTo>
                  <a:lnTo>
                    <a:pt x="4000500" y="685800"/>
                  </a:lnTo>
                  <a:cubicBezTo>
                    <a:pt x="4000500" y="727884"/>
                    <a:pt x="3966384" y="762000"/>
                    <a:pt x="39243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1714500" y="5715000"/>
              <a:ext cx="57150" cy="762000"/>
            </a:xfrm>
            <a:custGeom>
              <a:avLst/>
              <a:gdLst/>
              <a:ahLst/>
              <a:cxnLst/>
              <a:rect l="l" t="t" r="r" b="b"/>
              <a:pathLst>
                <a:path w="57150" h="7620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733425"/>
                  </a:lnTo>
                  <a:cubicBezTo>
                    <a:pt x="57150" y="749207"/>
                    <a:pt x="44357" y="762000"/>
                    <a:pt x="28575" y="762000"/>
                  </a:cubicBezTo>
                  <a:lnTo>
                    <a:pt x="28575" y="762000"/>
                  </a:lnTo>
                  <a:cubicBezTo>
                    <a:pt x="12793" y="762000"/>
                    <a:pt x="0" y="749207"/>
                    <a:pt x="0" y="733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77390" y="5854065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05075" y="6029325"/>
              <a:ext cx="13854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AI 安全与治理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77000" y="5715000"/>
            <a:ext cx="4000500" cy="762000"/>
            <a:chOff x="6477000" y="5715000"/>
            <a:chExt cx="4000500" cy="762000"/>
          </a:xfrm>
        </p:grpSpPr>
        <p:sp>
          <p:nvSpPr>
            <p:cNvPr id="35" name="Freeform 35"/>
            <p:cNvSpPr/>
            <p:nvPr/>
          </p:nvSpPr>
          <p:spPr>
            <a:xfrm>
              <a:off x="6477000" y="5715000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76200" y="0"/>
                  </a:moveTo>
                  <a:lnTo>
                    <a:pt x="3924300" y="0"/>
                  </a:lnTo>
                  <a:cubicBezTo>
                    <a:pt x="3966384" y="0"/>
                    <a:pt x="4000500" y="34116"/>
                    <a:pt x="4000500" y="76200"/>
                  </a:cubicBezTo>
                  <a:lnTo>
                    <a:pt x="4000500" y="685800"/>
                  </a:lnTo>
                  <a:cubicBezTo>
                    <a:pt x="4000500" y="727884"/>
                    <a:pt x="3966384" y="762000"/>
                    <a:pt x="3924300" y="762000"/>
                  </a:cubicBezTo>
                  <a:lnTo>
                    <a:pt x="76200" y="762000"/>
                  </a:lnTo>
                  <a:cubicBezTo>
                    <a:pt x="34116" y="762000"/>
                    <a:pt x="0" y="727884"/>
                    <a:pt x="0" y="685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477000" y="5715000"/>
              <a:ext cx="57150" cy="762000"/>
            </a:xfrm>
            <a:custGeom>
              <a:avLst/>
              <a:gdLst/>
              <a:ahLst/>
              <a:cxnLst/>
              <a:rect l="l" t="t" r="r" b="b"/>
              <a:pathLst>
                <a:path w="57150" h="762000">
                  <a:moveTo>
                    <a:pt x="28575" y="0"/>
                  </a:moveTo>
                  <a:lnTo>
                    <a:pt x="28575" y="0"/>
                  </a:lnTo>
                  <a:cubicBezTo>
                    <a:pt x="44357" y="0"/>
                    <a:pt x="57150" y="12793"/>
                    <a:pt x="57150" y="28575"/>
                  </a:cubicBezTo>
                  <a:lnTo>
                    <a:pt x="57150" y="733425"/>
                  </a:lnTo>
                  <a:cubicBezTo>
                    <a:pt x="57150" y="749207"/>
                    <a:pt x="44357" y="762000"/>
                    <a:pt x="28575" y="762000"/>
                  </a:cubicBezTo>
                  <a:lnTo>
                    <a:pt x="28575" y="762000"/>
                  </a:lnTo>
                  <a:cubicBezTo>
                    <a:pt x="12793" y="762000"/>
                    <a:pt x="0" y="749207"/>
                    <a:pt x="0" y="73342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39890" y="5854065"/>
              <a:ext cx="3493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67575" y="6029325"/>
              <a:ext cx="15716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投资与市场展望</a:t>
              </a:r>
            </a:p>
          </p:txBody>
        </p:sp>
      </p:grp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4830" y="268605"/>
            <a:ext cx="41171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2026 AI Development Trends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95127" y="742950"/>
            <a:ext cx="1401747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1E3A5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18038" y="1897380"/>
            <a:ext cx="3955923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大模型进化方向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18858" y="2567940"/>
            <a:ext cx="455428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Evolution of Large Language Models</a:t>
            </a:r>
          </a:p>
        </p:txBody>
      </p:sp>
      <p:sp>
        <p:nvSpPr>
          <p:cNvPr id="8" name="Freeform 8"/>
          <p:cNvSpPr/>
          <p:nvPr/>
        </p:nvSpPr>
        <p:spPr>
          <a:xfrm>
            <a:off x="4191000" y="3048000"/>
            <a:ext cx="3810000" cy="38100"/>
          </a:xfrm>
          <a:custGeom>
            <a:avLst/>
            <a:gdLst/>
            <a:ahLst/>
            <a:cxnLst/>
            <a:rect l="l" t="t" r="r" b="b"/>
            <a:pathLst>
              <a:path w="3810000" h="38100">
                <a:moveTo>
                  <a:pt x="19050" y="0"/>
                </a:moveTo>
                <a:lnTo>
                  <a:pt x="3790950" y="0"/>
                </a:lnTo>
                <a:cubicBezTo>
                  <a:pt x="3801471" y="0"/>
                  <a:pt x="3810000" y="8529"/>
                  <a:pt x="3810000" y="19050"/>
                </a:cubicBezTo>
                <a:lnTo>
                  <a:pt x="3810000" y="19050"/>
                </a:lnTo>
                <a:cubicBezTo>
                  <a:pt x="3810000" y="29571"/>
                  <a:pt x="3801471" y="38100"/>
                  <a:pt x="3790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00D4FF"/>
              </a:gs>
              <a:gs pos="100000">
                <a:srgbClr val="0066CC"/>
              </a:gs>
            </a:gsLst>
            <a:lin ang="0" scaled="1"/>
          </a:gra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1905000" y="3619500"/>
            <a:ext cx="8382000" cy="2733675"/>
            <a:chOff x="1905000" y="3619500"/>
            <a:chExt cx="8382000" cy="2733675"/>
          </a:xfrm>
        </p:grpSpPr>
        <p:sp>
          <p:nvSpPr>
            <p:cNvPr id="9" name="Freeform 9"/>
            <p:cNvSpPr/>
            <p:nvPr/>
          </p:nvSpPr>
          <p:spPr>
            <a:xfrm>
              <a:off x="1905000" y="3619500"/>
              <a:ext cx="8382000" cy="2476500"/>
            </a:xfrm>
            <a:custGeom>
              <a:avLst/>
              <a:gdLst/>
              <a:ahLst/>
              <a:cxnLst/>
              <a:rect l="l" t="t" r="r" b="b"/>
              <a:pathLst>
                <a:path w="8382000" h="2476500">
                  <a:moveTo>
                    <a:pt x="114300" y="0"/>
                  </a:moveTo>
                  <a:lnTo>
                    <a:pt x="8267700" y="0"/>
                  </a:lnTo>
                  <a:cubicBezTo>
                    <a:pt x="8330826" y="0"/>
                    <a:pt x="8382000" y="51174"/>
                    <a:pt x="8382000" y="114300"/>
                  </a:cubicBezTo>
                  <a:lnTo>
                    <a:pt x="8382000" y="2362200"/>
                  </a:lnTo>
                  <a:cubicBezTo>
                    <a:pt x="8382000" y="2425326"/>
                    <a:pt x="8330826" y="2476500"/>
                    <a:pt x="8267700" y="2476500"/>
                  </a:cubicBezTo>
                  <a:lnTo>
                    <a:pt x="114300" y="2476500"/>
                  </a:lnTo>
                  <a:cubicBezTo>
                    <a:pt x="51174" y="2476500"/>
                    <a:pt x="0" y="2425326"/>
                    <a:pt x="0" y="2362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476500" y="4095750"/>
              <a:ext cx="381000" cy="381000"/>
            </a:xfrm>
            <a:prstGeom prst="ellipse">
              <a:avLst/>
            </a:prstGeom>
            <a:noFill/>
            <a:ln w="28575">
              <a:gradFill>
                <a:gsLst>
                  <a:gs pos="0">
                    <a:srgbClr val="00D4FF"/>
                  </a:gs>
                  <a:gs pos="100000">
                    <a:srgbClr val="0066CC"/>
                  </a:gs>
                </a:gsLst>
                <a:lin ang="0" scaled="1"/>
              </a:gra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24157" y="423291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25140" y="399669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高效小型化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32760" y="4394835"/>
              <a:ext cx="48851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Smaller, more efficient models with better performance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2476500" y="4953000"/>
              <a:ext cx="381000" cy="381000"/>
            </a:xfrm>
            <a:prstGeom prst="ellipse">
              <a:avLst/>
            </a:prstGeom>
            <a:noFill/>
            <a:ln w="28575">
              <a:gradFill>
                <a:gsLst>
                  <a:gs pos="0">
                    <a:srgbClr val="00D4FF"/>
                  </a:gs>
                  <a:gs pos="100000">
                    <a:srgbClr val="0066CC"/>
                  </a:gs>
                </a:gsLst>
                <a:lin ang="0" scaled="1"/>
              </a:gra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01154" y="50901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25140" y="4853940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领域专业化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32760" y="5252085"/>
              <a:ext cx="40526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Domain-specific LLMs for industry applications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476500" y="5810250"/>
              <a:ext cx="381000" cy="381000"/>
            </a:xfrm>
            <a:prstGeom prst="ellipse">
              <a:avLst/>
            </a:prstGeom>
            <a:noFill/>
            <a:ln w="28575">
              <a:gradFill>
                <a:gsLst>
                  <a:gs pos="0">
                    <a:srgbClr val="00D4FF"/>
                  </a:gs>
                  <a:gs pos="100000">
                    <a:srgbClr val="0066CC"/>
                  </a:gs>
                </a:gsLst>
                <a:lin ang="0" scaled="1"/>
              </a:gra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01154" y="594741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25140" y="57111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推理能力增强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32760" y="6109335"/>
              <a:ext cx="43856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Advanced reasoning and logical thinking capabilities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216116" y="655415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3 / 10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gradFill>
            <a:gsLst>
              <a:gs pos="0">
                <a:srgbClr val="1A1A2E"/>
              </a:gs>
              <a:gs pos="100000">
                <a:srgbClr val="16213E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232410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大模型进化方向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762000" y="1428750"/>
            <a:ext cx="10477500" cy="1524000"/>
            <a:chOff x="762000" y="1428750"/>
            <a:chExt cx="10477500" cy="1524000"/>
          </a:xfrm>
        </p:grpSpPr>
        <p:grpSp>
          <p:nvGrpSpPr>
            <p:cNvPr id="11" name="Group 11"/>
            <p:cNvGrpSpPr/>
            <p:nvPr/>
          </p:nvGrpSpPr>
          <p:grpSpPr>
            <a:xfrm>
              <a:off x="762000" y="1428750"/>
              <a:ext cx="3238500" cy="1524000"/>
              <a:chOff x="762000" y="1428750"/>
              <a:chExt cx="3238500" cy="1524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762000" y="1428750"/>
                <a:ext cx="32385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5240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1409700"/>
                    </a:lnTo>
                    <a:cubicBezTo>
                      <a:pt x="3238500" y="1472826"/>
                      <a:pt x="3187326" y="1524000"/>
                      <a:pt x="3124200" y="1524000"/>
                    </a:cubicBezTo>
                    <a:lnTo>
                      <a:pt x="114300" y="1524000"/>
                    </a:lnTo>
                    <a:cubicBezTo>
                      <a:pt x="51174" y="1524000"/>
                      <a:pt x="0" y="1472826"/>
                      <a:pt x="0" y="1409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FAFC"/>
                  </a:gs>
                  <a:gs pos="100000">
                    <a:srgbClr val="FFFFFF"/>
                  </a:gs>
                </a:gsLst>
                <a:lin ang="5400000" scaled="1"/>
              </a:gradFill>
              <a:ln w="19050">
                <a:solidFill>
                  <a:srgbClr val="E2E8F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62000" y="1428750"/>
                <a:ext cx="32385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143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25587"/>
                      <a:pt x="3238500" y="57150"/>
                    </a:cubicBezTo>
                    <a:lnTo>
                      <a:pt x="3238500" y="57150"/>
                    </a:lnTo>
                    <a:cubicBezTo>
                      <a:pt x="3238500" y="88713"/>
                      <a:pt x="3187326" y="114300"/>
                      <a:pt x="3124200" y="114300"/>
                    </a:cubicBezTo>
                    <a:lnTo>
                      <a:pt x="114300" y="114300"/>
                    </a:lnTo>
                    <a:cubicBezTo>
                      <a:pt x="51174" y="114300"/>
                      <a:pt x="0" y="88713"/>
                      <a:pt x="0" y="57150"/>
                    </a:cubicBezTo>
                    <a:lnTo>
                      <a:pt x="0" y="57150"/>
                    </a:lnTo>
                    <a:cubicBezTo>
                      <a:pt x="0" y="25587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62000" y="1504950"/>
                <a:ext cx="3238500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4478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1333500"/>
                    </a:lnTo>
                    <a:cubicBezTo>
                      <a:pt x="3238500" y="1396626"/>
                      <a:pt x="3187326" y="1447800"/>
                      <a:pt x="3124200" y="1447800"/>
                    </a:cubicBezTo>
                    <a:lnTo>
                      <a:pt x="114300" y="1447800"/>
                    </a:lnTo>
                    <a:cubicBezTo>
                      <a:pt x="51174" y="1447800"/>
                      <a:pt x="0" y="1396626"/>
                      <a:pt x="0" y="13335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noFill/>
              <a:ln w="19050">
                <a:solidFill>
                  <a:srgbClr val="E2E8F0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474684" y="1822132"/>
                <a:ext cx="181313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小型化与高效化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835015" y="2220278"/>
                <a:ext cx="109247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Segoe UI"/>
                    <a:ea typeface="Microsoft YaHei"/>
                    <a:cs typeface="Segoe UI"/>
                  </a:rPr>
                  <a:t>参数量减少 90%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758339" y="2458402"/>
                <a:ext cx="12458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Segoe UI"/>
                    <a:ea typeface="Microsoft YaHei"/>
                    <a:cs typeface="Segoe UI"/>
                  </a:rPr>
                  <a:t>推理成本降低 80%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381500" y="1428750"/>
              <a:ext cx="3238500" cy="1524000"/>
              <a:chOff x="4381500" y="1428750"/>
              <a:chExt cx="3238500" cy="152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4381500" y="1428750"/>
                <a:ext cx="32385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5240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1409700"/>
                    </a:lnTo>
                    <a:cubicBezTo>
                      <a:pt x="3238500" y="1472826"/>
                      <a:pt x="3187326" y="1524000"/>
                      <a:pt x="3124200" y="1524000"/>
                    </a:cubicBezTo>
                    <a:lnTo>
                      <a:pt x="114300" y="1524000"/>
                    </a:lnTo>
                    <a:cubicBezTo>
                      <a:pt x="51174" y="1524000"/>
                      <a:pt x="0" y="1472826"/>
                      <a:pt x="0" y="1409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FAFC"/>
                  </a:gs>
                  <a:gs pos="100000">
                    <a:srgbClr val="FFFFFF"/>
                  </a:gs>
                </a:gsLst>
                <a:lin ang="5400000" scaled="1"/>
              </a:gradFill>
              <a:ln w="19050">
                <a:solidFill>
                  <a:srgbClr val="E2E8F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381500" y="1428750"/>
                <a:ext cx="32385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143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25587"/>
                      <a:pt x="3238500" y="57150"/>
                    </a:cubicBezTo>
                    <a:lnTo>
                      <a:pt x="3238500" y="57150"/>
                    </a:lnTo>
                    <a:cubicBezTo>
                      <a:pt x="3238500" y="88713"/>
                      <a:pt x="3187326" y="114300"/>
                      <a:pt x="3124200" y="114300"/>
                    </a:cubicBezTo>
                    <a:lnTo>
                      <a:pt x="114300" y="114300"/>
                    </a:lnTo>
                    <a:cubicBezTo>
                      <a:pt x="51174" y="114300"/>
                      <a:pt x="0" y="88713"/>
                      <a:pt x="0" y="57150"/>
                    </a:cubicBezTo>
                    <a:lnTo>
                      <a:pt x="0" y="57150"/>
                    </a:lnTo>
                    <a:cubicBezTo>
                      <a:pt x="0" y="25587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381500" y="1504950"/>
                <a:ext cx="3238500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4478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1333500"/>
                    </a:lnTo>
                    <a:cubicBezTo>
                      <a:pt x="3238500" y="1396626"/>
                      <a:pt x="3187326" y="1447800"/>
                      <a:pt x="3124200" y="1447800"/>
                    </a:cubicBezTo>
                    <a:lnTo>
                      <a:pt x="114300" y="1447800"/>
                    </a:lnTo>
                    <a:cubicBezTo>
                      <a:pt x="51174" y="1447800"/>
                      <a:pt x="0" y="1396626"/>
                      <a:pt x="0" y="13335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noFill/>
              <a:ln w="19050">
                <a:solidFill>
                  <a:srgbClr val="E2E8F0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220700" y="1822132"/>
                <a:ext cx="156010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领域专用模型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143976" y="2220278"/>
                <a:ext cx="17135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Segoe UI"/>
                    <a:ea typeface="Microsoft YaHei"/>
                    <a:cs typeface="Segoe UI"/>
                  </a:rPr>
                  <a:t>金融、医疗、法律垂直化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412343" y="2458402"/>
                <a:ext cx="117681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Segoe UI"/>
                    <a:ea typeface="Microsoft YaHei"/>
                    <a:cs typeface="Segoe UI"/>
                  </a:rPr>
                  <a:t>准确率提升 40%+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001000" y="1428750"/>
              <a:ext cx="3238500" cy="1524000"/>
              <a:chOff x="8001000" y="1428750"/>
              <a:chExt cx="3238500" cy="1524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001000" y="1428750"/>
                <a:ext cx="32385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5240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1409700"/>
                    </a:lnTo>
                    <a:cubicBezTo>
                      <a:pt x="3238500" y="1472826"/>
                      <a:pt x="3187326" y="1524000"/>
                      <a:pt x="3124200" y="1524000"/>
                    </a:cubicBezTo>
                    <a:lnTo>
                      <a:pt x="114300" y="1524000"/>
                    </a:lnTo>
                    <a:cubicBezTo>
                      <a:pt x="51174" y="1524000"/>
                      <a:pt x="0" y="1472826"/>
                      <a:pt x="0" y="1409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8FAFC"/>
                  </a:gs>
                  <a:gs pos="100000">
                    <a:srgbClr val="FFFFFF"/>
                  </a:gs>
                </a:gsLst>
                <a:lin ang="5400000" scaled="1"/>
              </a:gradFill>
              <a:ln w="19050">
                <a:solidFill>
                  <a:srgbClr val="E2E8F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001000" y="1428750"/>
                <a:ext cx="32385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143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25587"/>
                      <a:pt x="3238500" y="57150"/>
                    </a:cubicBezTo>
                    <a:lnTo>
                      <a:pt x="3238500" y="57150"/>
                    </a:lnTo>
                    <a:cubicBezTo>
                      <a:pt x="3238500" y="88713"/>
                      <a:pt x="3187326" y="114300"/>
                      <a:pt x="3124200" y="114300"/>
                    </a:cubicBezTo>
                    <a:lnTo>
                      <a:pt x="114300" y="114300"/>
                    </a:lnTo>
                    <a:cubicBezTo>
                      <a:pt x="51174" y="114300"/>
                      <a:pt x="0" y="88713"/>
                      <a:pt x="0" y="57150"/>
                    </a:cubicBezTo>
                    <a:lnTo>
                      <a:pt x="0" y="57150"/>
                    </a:lnTo>
                    <a:cubicBezTo>
                      <a:pt x="0" y="25587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1A1A2E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001000" y="1504950"/>
                <a:ext cx="3238500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14478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1333500"/>
                    </a:lnTo>
                    <a:cubicBezTo>
                      <a:pt x="3238500" y="1396626"/>
                      <a:pt x="3187326" y="1447800"/>
                      <a:pt x="3124200" y="1447800"/>
                    </a:cubicBezTo>
                    <a:lnTo>
                      <a:pt x="114300" y="1447800"/>
                    </a:lnTo>
                    <a:cubicBezTo>
                      <a:pt x="51174" y="1447800"/>
                      <a:pt x="0" y="1396626"/>
                      <a:pt x="0" y="13335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noFill/>
              <a:ln w="19050">
                <a:solidFill>
                  <a:srgbClr val="E2E8F0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840200" y="1822132"/>
                <a:ext cx="156010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推理能力强化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146858" y="2220278"/>
                <a:ext cx="94678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Segoe UI"/>
                    <a:ea typeface="Microsoft YaHei"/>
                    <a:cs typeface="Segoe UI"/>
                  </a:rPr>
                  <a:t>多步逻辑推理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916829" y="245840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B7280"/>
                    </a:solidFill>
                    <a:latin typeface="Segoe UI"/>
                    <a:ea typeface="Microsoft YaHei"/>
                    <a:cs typeface="Segoe UI"/>
                  </a:rPr>
                  <a:t>数学与科学问题解决</a:t>
                </a:r>
              </a:p>
            </p:txBody>
          </p:sp>
        </p:grpSp>
      </p:grpSp>
      <p:grpSp>
        <p:nvGrpSpPr>
          <p:cNvPr id="38" name="Group 38"/>
          <p:cNvGrpSpPr/>
          <p:nvPr/>
        </p:nvGrpSpPr>
        <p:grpSpPr>
          <a:xfrm>
            <a:off x="762000" y="3429000"/>
            <a:ext cx="10668000" cy="2286000"/>
            <a:chOff x="762000" y="3429000"/>
            <a:chExt cx="10668000" cy="2286000"/>
          </a:xfrm>
        </p:grpSpPr>
        <p:sp>
          <p:nvSpPr>
            <p:cNvPr id="27" name="Freeform 27"/>
            <p:cNvSpPr/>
            <p:nvPr/>
          </p:nvSpPr>
          <p:spPr>
            <a:xfrm>
              <a:off x="762000" y="3429000"/>
              <a:ext cx="10668000" cy="2286000"/>
            </a:xfrm>
            <a:custGeom>
              <a:avLst/>
              <a:gdLst/>
              <a:ahLst/>
              <a:cxnLst/>
              <a:rect l="l" t="t" r="r" b="b"/>
              <a:pathLst>
                <a:path w="10668000" h="2286000">
                  <a:moveTo>
                    <a:pt x="152400" y="0"/>
                  </a:moveTo>
                  <a:lnTo>
                    <a:pt x="10515600" y="0"/>
                  </a:lnTo>
                  <a:cubicBezTo>
                    <a:pt x="10599768" y="0"/>
                    <a:pt x="10668000" y="68232"/>
                    <a:pt x="10668000" y="152400"/>
                  </a:cubicBezTo>
                  <a:lnTo>
                    <a:pt x="10668000" y="2133600"/>
                  </a:lnTo>
                  <a:cubicBezTo>
                    <a:pt x="10668000" y="2217768"/>
                    <a:pt x="10599768" y="2286000"/>
                    <a:pt x="10515600" y="2286000"/>
                  </a:cubicBezTo>
                  <a:lnTo>
                    <a:pt x="152400" y="2286000"/>
                  </a:lnTo>
                  <a:cubicBezTo>
                    <a:pt x="68232" y="2286000"/>
                    <a:pt x="0" y="2217768"/>
                    <a:pt x="0" y="21336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8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61976" y="3710940"/>
              <a:ext cx="266804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2026 年关键指标预测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2190750" y="4191000"/>
              <a:ext cx="952500" cy="952500"/>
            </a:xfrm>
            <a:prstGeom prst="ellipse">
              <a:avLst/>
            </a:prstGeom>
            <a:solidFill>
              <a:srgbClr val="0066CC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332882" y="4360545"/>
              <a:ext cx="668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0066CC"/>
                  </a:solidFill>
                  <a:latin typeface="Segoe UI"/>
                  <a:ea typeface="Microsoft YaHei"/>
                  <a:cs typeface="Segoe UI"/>
                </a:rPr>
                <a:t>70%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40255" y="4792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企业采用小型模型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619750" y="4191000"/>
              <a:ext cx="952500" cy="952500"/>
            </a:xfrm>
            <a:prstGeom prst="ellipse">
              <a:avLst/>
            </a:prstGeom>
            <a:solidFill>
              <a:srgbClr val="00D4FF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61882" y="4360545"/>
              <a:ext cx="668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0066CC"/>
                  </a:solidFill>
                  <a:latin typeface="Segoe UI"/>
                  <a:ea typeface="Microsoft YaHei"/>
                  <a:cs typeface="Segoe UI"/>
                </a:rPr>
                <a:t>50+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69255" y="4792028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领域专用模型数量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9048750" y="4191000"/>
              <a:ext cx="952500" cy="952500"/>
            </a:xfrm>
            <a:prstGeom prst="ellipse">
              <a:avLst/>
            </a:prstGeom>
            <a:solidFill>
              <a:srgbClr val="1A1A2E">
                <a:alpha val="1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292095" y="4360545"/>
              <a:ext cx="46581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1A1A2E"/>
                  </a:solidFill>
                  <a:latin typeface="Segoe UI"/>
                  <a:ea typeface="Microsoft YaHei"/>
                  <a:cs typeface="Segoe UI"/>
                </a:rPr>
                <a:t>3x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51608" y="47920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280"/>
                  </a:solidFill>
                  <a:latin typeface="Segoe UI"/>
                  <a:ea typeface="Microsoft YaHei"/>
                  <a:cs typeface="Segoe UI"/>
                </a:rPr>
                <a:t>推理速度提升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025616" y="655415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3 / 10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2E8F0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8640" y="300990"/>
            <a:ext cx="18859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大模型进化方向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91451" y="11372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E3A5F"/>
                </a:solidFill>
                <a:latin typeface="Arial"/>
                <a:ea typeface="Microsoft YaHei"/>
                <a:cs typeface="Arial"/>
              </a:rPr>
              <a:t>高效与专业化并行发展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43000" y="2000250"/>
            <a:ext cx="4572000" cy="2095500"/>
            <a:chOff x="1143000" y="2000250"/>
            <a:chExt cx="4572000" cy="2095500"/>
          </a:xfrm>
        </p:grpSpPr>
        <p:sp>
          <p:nvSpPr>
            <p:cNvPr id="6" name="Freeform 6"/>
            <p:cNvSpPr/>
            <p:nvPr/>
          </p:nvSpPr>
          <p:spPr>
            <a:xfrm>
              <a:off x="1143000" y="2000250"/>
              <a:ext cx="4572000" cy="2095500"/>
            </a:xfrm>
            <a:custGeom>
              <a:avLst/>
              <a:gdLst/>
              <a:ahLst/>
              <a:cxnLst/>
              <a:rect l="l" t="t" r="r" b="b"/>
              <a:pathLst>
                <a:path w="4572000" h="2095500">
                  <a:moveTo>
                    <a:pt x="114300" y="0"/>
                  </a:moveTo>
                  <a:lnTo>
                    <a:pt x="4457700" y="0"/>
                  </a:lnTo>
                  <a:cubicBezTo>
                    <a:pt x="4520826" y="0"/>
                    <a:pt x="4572000" y="51174"/>
                    <a:pt x="4572000" y="114300"/>
                  </a:cubicBezTo>
                  <a:lnTo>
                    <a:pt x="4572000" y="1981200"/>
                  </a:lnTo>
                  <a:cubicBezTo>
                    <a:pt x="4572000" y="2044326"/>
                    <a:pt x="4520826" y="2095500"/>
                    <a:pt x="44577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43000" y="2000250"/>
              <a:ext cx="4572000" cy="57150"/>
            </a:xfrm>
            <a:custGeom>
              <a:avLst/>
              <a:gdLst/>
              <a:ahLst/>
              <a:cxnLst/>
              <a:rect l="l" t="t" r="r" b="b"/>
              <a:pathLst>
                <a:path w="4572000" h="57150">
                  <a:moveTo>
                    <a:pt x="28575" y="0"/>
                  </a:moveTo>
                  <a:lnTo>
                    <a:pt x="4543425" y="0"/>
                  </a:lnTo>
                  <a:cubicBezTo>
                    <a:pt x="4559207" y="0"/>
                    <a:pt x="4572000" y="12793"/>
                    <a:pt x="4572000" y="28575"/>
                  </a:cubicBezTo>
                  <a:lnTo>
                    <a:pt x="4572000" y="28575"/>
                  </a:lnTo>
                  <a:cubicBezTo>
                    <a:pt x="4572000" y="44357"/>
                    <a:pt x="4559207" y="57150"/>
                    <a:pt x="4543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07795" y="2298382"/>
              <a:ext cx="17751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📊 模型效率提升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13510" y="2680335"/>
              <a:ext cx="27382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• 参数量减少 10 倍，性能提升 3 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3510" y="2966085"/>
              <a:ext cx="1572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• 推理成本降低 80%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3510" y="3251835"/>
              <a:ext cx="1572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• 训练能耗减少 60%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15415" y="3649028"/>
              <a:ext cx="16062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MoE 架构 + 稀疏化技术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77000" y="2000250"/>
            <a:ext cx="4572000" cy="2095500"/>
            <a:chOff x="6477000" y="2000250"/>
            <a:chExt cx="4572000" cy="2095500"/>
          </a:xfrm>
        </p:grpSpPr>
        <p:sp>
          <p:nvSpPr>
            <p:cNvPr id="14" name="Freeform 14"/>
            <p:cNvSpPr/>
            <p:nvPr/>
          </p:nvSpPr>
          <p:spPr>
            <a:xfrm>
              <a:off x="6477000" y="2000250"/>
              <a:ext cx="4572000" cy="2095500"/>
            </a:xfrm>
            <a:custGeom>
              <a:avLst/>
              <a:gdLst/>
              <a:ahLst/>
              <a:cxnLst/>
              <a:rect l="l" t="t" r="r" b="b"/>
              <a:pathLst>
                <a:path w="4572000" h="2095500">
                  <a:moveTo>
                    <a:pt x="114300" y="0"/>
                  </a:moveTo>
                  <a:lnTo>
                    <a:pt x="4457700" y="0"/>
                  </a:lnTo>
                  <a:cubicBezTo>
                    <a:pt x="4520826" y="0"/>
                    <a:pt x="4572000" y="51174"/>
                    <a:pt x="4572000" y="114300"/>
                  </a:cubicBezTo>
                  <a:lnTo>
                    <a:pt x="4572000" y="1981200"/>
                  </a:lnTo>
                  <a:cubicBezTo>
                    <a:pt x="4572000" y="2044326"/>
                    <a:pt x="4520826" y="2095500"/>
                    <a:pt x="44577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477000" y="2000250"/>
              <a:ext cx="4572000" cy="57150"/>
            </a:xfrm>
            <a:custGeom>
              <a:avLst/>
              <a:gdLst/>
              <a:ahLst/>
              <a:cxnLst/>
              <a:rect l="l" t="t" r="r" b="b"/>
              <a:pathLst>
                <a:path w="4572000" h="57150">
                  <a:moveTo>
                    <a:pt x="28575" y="0"/>
                  </a:moveTo>
                  <a:lnTo>
                    <a:pt x="4543425" y="0"/>
                  </a:lnTo>
                  <a:cubicBezTo>
                    <a:pt x="4559207" y="0"/>
                    <a:pt x="4572000" y="12793"/>
                    <a:pt x="4572000" y="28575"/>
                  </a:cubicBezTo>
                  <a:lnTo>
                    <a:pt x="4572000" y="28575"/>
                  </a:lnTo>
                  <a:cubicBezTo>
                    <a:pt x="4572000" y="44357"/>
                    <a:pt x="4559207" y="57150"/>
                    <a:pt x="4543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741795" y="2298382"/>
              <a:ext cx="15221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🎯 领域专业化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47510" y="2680335"/>
              <a:ext cx="22825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• 医疗、法律、金融垂直模型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47510" y="2966085"/>
              <a:ext cx="15815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• 行业知识深度整合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47510" y="3251835"/>
              <a:ext cx="14939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• 准确率提升 40%+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49415" y="3649028"/>
              <a:ext cx="2188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Vertical LLMs for enterprise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810000" y="4476750"/>
            <a:ext cx="4572000" cy="1714500"/>
            <a:chOff x="3810000" y="4476750"/>
            <a:chExt cx="4572000" cy="1714500"/>
          </a:xfrm>
        </p:grpSpPr>
        <p:sp>
          <p:nvSpPr>
            <p:cNvPr id="22" name="Freeform 22"/>
            <p:cNvSpPr/>
            <p:nvPr/>
          </p:nvSpPr>
          <p:spPr>
            <a:xfrm>
              <a:off x="3810000" y="4476750"/>
              <a:ext cx="4572000" cy="1714500"/>
            </a:xfrm>
            <a:custGeom>
              <a:avLst/>
              <a:gdLst/>
              <a:ahLst/>
              <a:cxnLst/>
              <a:rect l="l" t="t" r="r" b="b"/>
              <a:pathLst>
                <a:path w="4572000" h="1714500">
                  <a:moveTo>
                    <a:pt x="114300" y="0"/>
                  </a:moveTo>
                  <a:lnTo>
                    <a:pt x="4457700" y="0"/>
                  </a:lnTo>
                  <a:cubicBezTo>
                    <a:pt x="4520826" y="0"/>
                    <a:pt x="4572000" y="51174"/>
                    <a:pt x="4572000" y="114300"/>
                  </a:cubicBezTo>
                  <a:lnTo>
                    <a:pt x="4572000" y="1600200"/>
                  </a:lnTo>
                  <a:cubicBezTo>
                    <a:pt x="4572000" y="1663326"/>
                    <a:pt x="4520826" y="1714500"/>
                    <a:pt x="4457700" y="1714500"/>
                  </a:cubicBezTo>
                  <a:lnTo>
                    <a:pt x="114300" y="1714500"/>
                  </a:lnTo>
                  <a:cubicBezTo>
                    <a:pt x="51174" y="1714500"/>
                    <a:pt x="0" y="1663326"/>
                    <a:pt x="0" y="1600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3810000" y="4476750"/>
              <a:ext cx="4572000" cy="57150"/>
            </a:xfrm>
            <a:custGeom>
              <a:avLst/>
              <a:gdLst/>
              <a:ahLst/>
              <a:cxnLst/>
              <a:rect l="l" t="t" r="r" b="b"/>
              <a:pathLst>
                <a:path w="4572000" h="57150">
                  <a:moveTo>
                    <a:pt x="28575" y="0"/>
                  </a:moveTo>
                  <a:lnTo>
                    <a:pt x="4543425" y="0"/>
                  </a:lnTo>
                  <a:cubicBezTo>
                    <a:pt x="4559207" y="0"/>
                    <a:pt x="4572000" y="12793"/>
                    <a:pt x="4572000" y="28575"/>
                  </a:cubicBezTo>
                  <a:lnTo>
                    <a:pt x="4572000" y="28575"/>
                  </a:lnTo>
                  <a:cubicBezTo>
                    <a:pt x="4572000" y="44357"/>
                    <a:pt x="4559207" y="57150"/>
                    <a:pt x="454342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074795" y="4727258"/>
              <a:ext cx="177517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🧠 推理能力突破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80510" y="5109210"/>
              <a:ext cx="22738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• 复杂逻辑推理能力提升 50%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80510" y="5394960"/>
              <a:ext cx="21073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• 多步骤问题解决能力增强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82415" y="5696902"/>
              <a:ext cx="22349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System 2 thinking integration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1216116" y="655415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4 / 10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gradFill>
            <a:gsLst>
              <a:gs pos="0">
                <a:srgbClr val="1A1A2E"/>
              </a:gs>
              <a:gs pos="100000">
                <a:srgbClr val="16213E"/>
              </a:gs>
            </a:gsLst>
            <a:lin ang="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27710" y="232410"/>
            <a:ext cx="273921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多模态 AI 应用</a:t>
            </a:r>
          </a:p>
        </p:txBody>
      </p:sp>
      <p:sp>
        <p:nvSpPr>
          <p:cNvPr id="4" name="Freeform 4"/>
          <p:cNvSpPr/>
          <p:nvPr/>
        </p:nvSpPr>
        <p:spPr>
          <a:xfrm>
            <a:off x="762000" y="6667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19050" y="0"/>
                </a:moveTo>
                <a:lnTo>
                  <a:pt x="742950" y="0"/>
                </a:lnTo>
                <a:cubicBezTo>
                  <a:pt x="753471" y="0"/>
                  <a:pt x="762000" y="8529"/>
                  <a:pt x="762000" y="19050"/>
                </a:cubicBezTo>
                <a:lnTo>
                  <a:pt x="762000" y="19050"/>
                </a:lnTo>
                <a:cubicBezTo>
                  <a:pt x="762000" y="29571"/>
                  <a:pt x="753471" y="38100"/>
                  <a:pt x="742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00D4FF"/>
          </a:solidFill>
          <a:ln>
            <a:noFill/>
          </a:ln>
        </p:spPr>
      </p:sp>
      <p:grpSp>
        <p:nvGrpSpPr>
          <p:cNvPr id="44" name="Group 44"/>
          <p:cNvGrpSpPr/>
          <p:nvPr/>
        </p:nvGrpSpPr>
        <p:grpSpPr>
          <a:xfrm>
            <a:off x="762000" y="1428750"/>
            <a:ext cx="10477500" cy="4286250"/>
            <a:chOff x="762000" y="1428750"/>
            <a:chExt cx="10477500" cy="4286250"/>
          </a:xfrm>
        </p:grpSpPr>
        <p:sp>
          <p:nvSpPr>
            <p:cNvPr id="5" name="Freeform 5"/>
            <p:cNvSpPr/>
            <p:nvPr/>
          </p:nvSpPr>
          <p:spPr>
            <a:xfrm>
              <a:off x="762000" y="1428750"/>
              <a:ext cx="4953000" cy="4286250"/>
            </a:xfrm>
            <a:custGeom>
              <a:avLst/>
              <a:gdLst/>
              <a:ahLst/>
              <a:cxnLst/>
              <a:rect l="l" t="t" r="r" b="b"/>
              <a:pathLst>
                <a:path w="4953000" h="4286250">
                  <a:moveTo>
                    <a:pt x="152400" y="0"/>
                  </a:moveTo>
                  <a:lnTo>
                    <a:pt x="4800600" y="0"/>
                  </a:lnTo>
                  <a:cubicBezTo>
                    <a:pt x="4884768" y="0"/>
                    <a:pt x="4953000" y="68232"/>
                    <a:pt x="4953000" y="152400"/>
                  </a:cubicBezTo>
                  <a:lnTo>
                    <a:pt x="4953000" y="4133850"/>
                  </a:lnTo>
                  <a:cubicBezTo>
                    <a:pt x="4953000" y="4218018"/>
                    <a:pt x="4884768" y="4286250"/>
                    <a:pt x="4800600" y="4286250"/>
                  </a:cubicBezTo>
                  <a:lnTo>
                    <a:pt x="152400" y="4286250"/>
                  </a:lnTo>
                  <a:cubicBezTo>
                    <a:pt x="68232" y="4286250"/>
                    <a:pt x="0" y="4218018"/>
                    <a:pt x="0" y="413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8FAFC"/>
            </a:solidFill>
            <a:ln w="19050">
              <a:solidFill>
                <a:srgbClr val="E2E8F0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387536" y="17106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核心能力整合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314450" y="2362200"/>
              <a:ext cx="1897430" cy="500062"/>
              <a:chOff x="1314450" y="2362200"/>
              <a:chExt cx="1897430" cy="500062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314450" y="2362200"/>
                <a:ext cx="228600" cy="228600"/>
              </a:xfrm>
              <a:prstGeom prst="ellipse">
                <a:avLst/>
              </a:prstGeom>
              <a:solidFill>
                <a:srgbClr val="0066CC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391262" y="2420302"/>
                <a:ext cx="749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697355" y="2378392"/>
                <a:ext cx="15145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文本 + 图像理解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701165" y="264890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Segoe UI"/>
                    <a:ea typeface="Microsoft YaHei"/>
                    <a:cs typeface="Segoe UI"/>
                  </a:rPr>
                  <a:t>智能文档分析与生成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314450" y="3028950"/>
              <a:ext cx="1897430" cy="500062"/>
              <a:chOff x="1314450" y="3028950"/>
              <a:chExt cx="1897430" cy="500062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1314450" y="3028950"/>
                <a:ext cx="228600" cy="228600"/>
              </a:xfrm>
              <a:prstGeom prst="ellipse">
                <a:avLst/>
              </a:prstGeom>
              <a:solidFill>
                <a:srgbClr val="00D4FF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371134" y="308705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697355" y="3045142"/>
                <a:ext cx="15145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音频 + 视频处理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01165" y="331565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Segoe UI"/>
                    <a:ea typeface="Microsoft YaHei"/>
                    <a:cs typeface="Segoe UI"/>
                  </a:rPr>
                  <a:t>实时转录与内容理解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314450" y="3695700"/>
              <a:ext cx="1793557" cy="500062"/>
              <a:chOff x="1314450" y="3695700"/>
              <a:chExt cx="1793557" cy="500062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1314450" y="3695700"/>
                <a:ext cx="228600" cy="228600"/>
              </a:xfrm>
              <a:prstGeom prst="ellipse">
                <a:avLst/>
              </a:prstGeom>
              <a:solidFill>
                <a:srgbClr val="1A1A2E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371134" y="3753802"/>
                <a:ext cx="1152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697355" y="3711892"/>
                <a:ext cx="106941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2937"/>
                    </a:solidFill>
                    <a:latin typeface="Segoe UI"/>
                    <a:ea typeface="Microsoft YaHei"/>
                    <a:cs typeface="Segoe UI"/>
                  </a:rPr>
                  <a:t>跨模态推理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01165" y="398240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B7280"/>
                    </a:solidFill>
                    <a:latin typeface="Segoe UI"/>
                    <a:ea typeface="Microsoft YaHei"/>
                    <a:cs typeface="Segoe UI"/>
                  </a:rPr>
                  <a:t>视觉问答与复杂推理</a:t>
                </a:r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6286500" y="1428750"/>
              <a:ext cx="4953000" cy="4286250"/>
            </a:xfrm>
            <a:custGeom>
              <a:avLst/>
              <a:gdLst/>
              <a:ahLst/>
              <a:cxnLst/>
              <a:rect l="l" t="t" r="r" b="b"/>
              <a:pathLst>
                <a:path w="4953000" h="4286250">
                  <a:moveTo>
                    <a:pt x="152400" y="0"/>
                  </a:moveTo>
                  <a:lnTo>
                    <a:pt x="4800600" y="0"/>
                  </a:lnTo>
                  <a:cubicBezTo>
                    <a:pt x="4884768" y="0"/>
                    <a:pt x="4953000" y="68232"/>
                    <a:pt x="4953000" y="152400"/>
                  </a:cubicBezTo>
                  <a:lnTo>
                    <a:pt x="4953000" y="4133850"/>
                  </a:lnTo>
                  <a:cubicBezTo>
                    <a:pt x="4953000" y="4218018"/>
                    <a:pt x="4884768" y="4286250"/>
                    <a:pt x="4800600" y="4286250"/>
                  </a:cubicBezTo>
                  <a:lnTo>
                    <a:pt x="152400" y="4286250"/>
                  </a:lnTo>
                  <a:cubicBezTo>
                    <a:pt x="68232" y="4286250"/>
                    <a:pt x="0" y="4218018"/>
                    <a:pt x="0" y="4133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1A1A2E"/>
            </a:solidFill>
            <a:ln w="19050">
              <a:solidFill>
                <a:srgbClr val="0066C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12036" y="1710690"/>
              <a:ext cx="17019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企业应用场景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6667500" y="2190750"/>
              <a:ext cx="1905000" cy="952500"/>
              <a:chOff x="6667500" y="2190750"/>
              <a:chExt cx="1905000" cy="9525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667500" y="2190750"/>
                <a:ext cx="1905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876300"/>
                    </a:lnTo>
                    <a:cubicBezTo>
                      <a:pt x="1905000" y="918384"/>
                      <a:pt x="1870884" y="952500"/>
                      <a:pt x="182880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0066C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236714" y="24422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客户服务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007209" y="2712720"/>
                <a:ext cx="12255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CA3AF"/>
                    </a:solidFill>
                    <a:latin typeface="Segoe UI"/>
                    <a:ea typeface="Microsoft YaHei"/>
                    <a:cs typeface="Segoe UI"/>
                  </a:rPr>
                  <a:t>智能客服 + 情绪分析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953500" y="2190750"/>
              <a:ext cx="1905000" cy="952500"/>
              <a:chOff x="8953500" y="2190750"/>
              <a:chExt cx="1905000" cy="9525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953500" y="2190750"/>
                <a:ext cx="1905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876300"/>
                    </a:lnTo>
                    <a:cubicBezTo>
                      <a:pt x="1905000" y="918384"/>
                      <a:pt x="1870884" y="952500"/>
                      <a:pt x="182880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522714" y="24422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内容创作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368790" y="2712720"/>
                <a:ext cx="10744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CA3AF"/>
                    </a:solidFill>
                    <a:latin typeface="Segoe UI"/>
                    <a:ea typeface="Microsoft YaHei"/>
                    <a:cs typeface="Segoe UI"/>
                  </a:rPr>
                  <a:t>营销素材自动生成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667500" y="3429000"/>
              <a:ext cx="1905000" cy="952500"/>
              <a:chOff x="6667500" y="3429000"/>
              <a:chExt cx="1905000" cy="9525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67500" y="3429000"/>
                <a:ext cx="1905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876300"/>
                    </a:lnTo>
                    <a:cubicBezTo>
                      <a:pt x="1905000" y="918384"/>
                      <a:pt x="1870884" y="952500"/>
                      <a:pt x="182880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0066C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236714" y="36804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培训教育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148512" y="3950970"/>
                <a:ext cx="9429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CA3AF"/>
                    </a:solidFill>
                    <a:latin typeface="Segoe UI"/>
                    <a:ea typeface="Microsoft YaHei"/>
                    <a:cs typeface="Segoe UI"/>
                  </a:rPr>
                  <a:t>交互式学习体验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953500" y="3429000"/>
              <a:ext cx="1905000" cy="952500"/>
              <a:chOff x="8953500" y="3429000"/>
              <a:chExt cx="1905000" cy="9525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953500" y="3429000"/>
                <a:ext cx="1905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876300"/>
                    </a:lnTo>
                    <a:cubicBezTo>
                      <a:pt x="1905000" y="918384"/>
                      <a:pt x="1870884" y="952500"/>
                      <a:pt x="182880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00D4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9522714" y="36804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数据分析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368790" y="3950970"/>
                <a:ext cx="10744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CA3AF"/>
                    </a:solidFill>
                    <a:latin typeface="Segoe UI"/>
                    <a:ea typeface="Microsoft YaHei"/>
                    <a:cs typeface="Segoe UI"/>
                  </a:rPr>
                  <a:t>多源数据融合分析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810500" y="4667250"/>
              <a:ext cx="1905000" cy="952500"/>
              <a:chOff x="7810500" y="4667250"/>
              <a:chExt cx="1905000" cy="9525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810500" y="4667250"/>
                <a:ext cx="19050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00">
                    <a:moveTo>
                      <a:pt x="76200" y="0"/>
                    </a:moveTo>
                    <a:lnTo>
                      <a:pt x="1828800" y="0"/>
                    </a:lnTo>
                    <a:cubicBezTo>
                      <a:pt x="1870884" y="0"/>
                      <a:pt x="1905000" y="34116"/>
                      <a:pt x="1905000" y="76200"/>
                    </a:cubicBezTo>
                    <a:lnTo>
                      <a:pt x="1905000" y="876300"/>
                    </a:lnTo>
                    <a:cubicBezTo>
                      <a:pt x="1905000" y="918384"/>
                      <a:pt x="1870884" y="952500"/>
                      <a:pt x="1828800" y="952500"/>
                    </a:cubicBezTo>
                    <a:lnTo>
                      <a:pt x="76200" y="952500"/>
                    </a:lnTo>
                    <a:cubicBezTo>
                      <a:pt x="34116" y="952500"/>
                      <a:pt x="0" y="918384"/>
                      <a:pt x="0" y="876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1A1A2E"/>
              </a:solidFill>
              <a:ln w="19050">
                <a:solidFill>
                  <a:srgbClr val="0066CC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79714" y="491871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0D4FF"/>
                    </a:solidFill>
                    <a:latin typeface="Segoe UI"/>
                    <a:ea typeface="Microsoft YaHei"/>
                    <a:cs typeface="Segoe UI"/>
                  </a:rPr>
                  <a:t>产品研发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215932" y="5189220"/>
                <a:ext cx="10941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CA3AF"/>
                    </a:solidFill>
                    <a:latin typeface="Segoe UI"/>
                    <a:ea typeface="Microsoft YaHei"/>
                    <a:cs typeface="Segoe UI"/>
                  </a:rPr>
                  <a:t>AI 辅助设计与测试</a:t>
                </a:r>
              </a:p>
            </p:txBody>
          </p:sp>
        </p:grpSp>
      </p:grpSp>
      <p:sp>
        <p:nvSpPr>
          <p:cNvPr id="45" name="TextBox 45"/>
          <p:cNvSpPr txBox="1"/>
          <p:nvPr/>
        </p:nvSpPr>
        <p:spPr>
          <a:xfrm>
            <a:off x="11025616" y="655415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Segoe UI"/>
                <a:ea typeface="Microsoft YaHei"/>
                <a:cs typeface="Segoe UI"/>
              </a:rPr>
              <a:t>4 / 10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2E8F0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8640" y="300990"/>
            <a:ext cx="174136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多模态 AI 应用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991451" y="1137285"/>
            <a:ext cx="42090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E3A5F"/>
                </a:solidFill>
                <a:latin typeface="Arial"/>
                <a:ea typeface="Microsoft YaHei"/>
                <a:cs typeface="Arial"/>
              </a:rPr>
              <a:t>多模态融合的技术突破</a:t>
            </a:r>
          </a:p>
        </p:txBody>
      </p:sp>
      <p:sp>
        <p:nvSpPr>
          <p:cNvPr id="6" name="Ellipse 6"/>
          <p:cNvSpPr/>
          <p:nvPr/>
        </p:nvSpPr>
        <p:spPr>
          <a:xfrm>
            <a:off x="4953000" y="2095500"/>
            <a:ext cx="2286000" cy="2286000"/>
          </a:xfrm>
          <a:prstGeom prst="ellipse">
            <a:avLst/>
          </a:prstGeom>
          <a:gradFill>
            <a:gsLst>
              <a:gs pos="0">
                <a:srgbClr val="0066CC">
                  <a:alpha val="10000"/>
                </a:srgbClr>
              </a:gs>
              <a:gs pos="100000">
                <a:srgbClr val="00D4FF">
                  <a:alpha val="1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334000" y="2476500"/>
            <a:ext cx="1524000" cy="1524000"/>
          </a:xfrm>
          <a:prstGeom prst="ellipse">
            <a:avLst/>
          </a:prstGeom>
          <a:gradFill>
            <a:gsLst>
              <a:gs pos="0">
                <a:srgbClr val="0066CC">
                  <a:alpha val="20000"/>
                </a:srgbClr>
              </a:gs>
              <a:gs pos="100000">
                <a:srgbClr val="00D4FF">
                  <a:alpha val="2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715000" y="2857500"/>
            <a:ext cx="762000" cy="762000"/>
          </a:xfrm>
          <a:prstGeom prst="ellipse">
            <a:avLst/>
          </a:prstGeom>
          <a:gradFill>
            <a:gsLst>
              <a:gs pos="0">
                <a:srgbClr val="0066CC"/>
              </a:gs>
              <a:gs pos="100000">
                <a:srgbClr val="00D4FF"/>
              </a:gs>
            </a:gsLst>
            <a:lin ang="270000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2667000" y="2095500"/>
            <a:ext cx="1714500" cy="952500"/>
            <a:chOff x="2667000" y="2095500"/>
            <a:chExt cx="1714500" cy="952500"/>
          </a:xfrm>
        </p:grpSpPr>
        <p:sp>
          <p:nvSpPr>
            <p:cNvPr id="9" name="Freeform 9"/>
            <p:cNvSpPr/>
            <p:nvPr/>
          </p:nvSpPr>
          <p:spPr>
            <a:xfrm>
              <a:off x="2667000" y="2095500"/>
              <a:ext cx="1714500" cy="952500"/>
            </a:xfrm>
            <a:custGeom>
              <a:avLst/>
              <a:gdLst/>
              <a:ahLst/>
              <a:cxnLst/>
              <a:rect l="l" t="t" r="r" b="b"/>
              <a:pathLst>
                <a:path w="1714500" h="952500">
                  <a:moveTo>
                    <a:pt x="114300" y="0"/>
                  </a:moveTo>
                  <a:lnTo>
                    <a:pt x="1600200" y="0"/>
                  </a:lnTo>
                  <a:cubicBezTo>
                    <a:pt x="1663326" y="0"/>
                    <a:pt x="1714500" y="51174"/>
                    <a:pt x="1714500" y="114300"/>
                  </a:cubicBezTo>
                  <a:lnTo>
                    <a:pt x="1714500" y="838200"/>
                  </a:lnTo>
                  <a:cubicBezTo>
                    <a:pt x="1714500" y="901326"/>
                    <a:pt x="1663326" y="952500"/>
                    <a:pt x="160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397377" y="2217420"/>
              <a:ext cx="25374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📝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93053" y="2664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文本处理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10500" y="2095500"/>
            <a:ext cx="1714500" cy="952500"/>
            <a:chOff x="7810500" y="2095500"/>
            <a:chExt cx="1714500" cy="952500"/>
          </a:xfrm>
        </p:grpSpPr>
        <p:sp>
          <p:nvSpPr>
            <p:cNvPr id="13" name="Freeform 13"/>
            <p:cNvSpPr/>
            <p:nvPr/>
          </p:nvSpPr>
          <p:spPr>
            <a:xfrm>
              <a:off x="7810500" y="2095500"/>
              <a:ext cx="1714500" cy="952500"/>
            </a:xfrm>
            <a:custGeom>
              <a:avLst/>
              <a:gdLst/>
              <a:ahLst/>
              <a:cxnLst/>
              <a:rect l="l" t="t" r="r" b="b"/>
              <a:pathLst>
                <a:path w="1714500" h="952500">
                  <a:moveTo>
                    <a:pt x="114300" y="0"/>
                  </a:moveTo>
                  <a:lnTo>
                    <a:pt x="1600200" y="0"/>
                  </a:lnTo>
                  <a:cubicBezTo>
                    <a:pt x="1663326" y="0"/>
                    <a:pt x="1714500" y="51174"/>
                    <a:pt x="1714500" y="114300"/>
                  </a:cubicBezTo>
                  <a:lnTo>
                    <a:pt x="1714500" y="838200"/>
                  </a:lnTo>
                  <a:cubicBezTo>
                    <a:pt x="1714500" y="901326"/>
                    <a:pt x="1663326" y="952500"/>
                    <a:pt x="160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44484" y="2217420"/>
              <a:ext cx="4465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🖼️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36553" y="2664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图像理解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667000" y="4381500"/>
            <a:ext cx="1714500" cy="952500"/>
            <a:chOff x="2667000" y="4381500"/>
            <a:chExt cx="1714500" cy="952500"/>
          </a:xfrm>
        </p:grpSpPr>
        <p:sp>
          <p:nvSpPr>
            <p:cNvPr id="17" name="Freeform 17"/>
            <p:cNvSpPr/>
            <p:nvPr/>
          </p:nvSpPr>
          <p:spPr>
            <a:xfrm>
              <a:off x="2667000" y="4381500"/>
              <a:ext cx="1714500" cy="952500"/>
            </a:xfrm>
            <a:custGeom>
              <a:avLst/>
              <a:gdLst/>
              <a:ahLst/>
              <a:cxnLst/>
              <a:rect l="l" t="t" r="r" b="b"/>
              <a:pathLst>
                <a:path w="1714500" h="952500">
                  <a:moveTo>
                    <a:pt x="114300" y="0"/>
                  </a:moveTo>
                  <a:lnTo>
                    <a:pt x="1600200" y="0"/>
                  </a:lnTo>
                  <a:cubicBezTo>
                    <a:pt x="1663326" y="0"/>
                    <a:pt x="1714500" y="51174"/>
                    <a:pt x="1714500" y="114300"/>
                  </a:cubicBezTo>
                  <a:lnTo>
                    <a:pt x="1714500" y="838200"/>
                  </a:lnTo>
                  <a:cubicBezTo>
                    <a:pt x="1714500" y="901326"/>
                    <a:pt x="1663326" y="952500"/>
                    <a:pt x="160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397377" y="4503420"/>
              <a:ext cx="25374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93053" y="4950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音频分析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810500" y="4381500"/>
            <a:ext cx="1714500" cy="952500"/>
            <a:chOff x="7810500" y="4381500"/>
            <a:chExt cx="1714500" cy="952500"/>
          </a:xfrm>
        </p:grpSpPr>
        <p:sp>
          <p:nvSpPr>
            <p:cNvPr id="21" name="Freeform 21"/>
            <p:cNvSpPr/>
            <p:nvPr/>
          </p:nvSpPr>
          <p:spPr>
            <a:xfrm>
              <a:off x="7810500" y="4381500"/>
              <a:ext cx="1714500" cy="952500"/>
            </a:xfrm>
            <a:custGeom>
              <a:avLst/>
              <a:gdLst/>
              <a:ahLst/>
              <a:cxnLst/>
              <a:rect l="l" t="t" r="r" b="b"/>
              <a:pathLst>
                <a:path w="1714500" h="952500">
                  <a:moveTo>
                    <a:pt x="114300" y="0"/>
                  </a:moveTo>
                  <a:lnTo>
                    <a:pt x="1600200" y="0"/>
                  </a:lnTo>
                  <a:cubicBezTo>
                    <a:pt x="1663326" y="0"/>
                    <a:pt x="1714500" y="51174"/>
                    <a:pt x="1714500" y="114300"/>
                  </a:cubicBezTo>
                  <a:lnTo>
                    <a:pt x="1714500" y="838200"/>
                  </a:lnTo>
                  <a:cubicBezTo>
                    <a:pt x="1714500" y="901326"/>
                    <a:pt x="1663326" y="952500"/>
                    <a:pt x="1600200" y="952500"/>
                  </a:cubicBezTo>
                  <a:lnTo>
                    <a:pt x="114300" y="952500"/>
                  </a:lnTo>
                  <a:cubicBezTo>
                    <a:pt x="51174" y="952500"/>
                    <a:pt x="0" y="901326"/>
                    <a:pt x="0" y="83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40877" y="4503420"/>
              <a:ext cx="25374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36553" y="49501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视频理解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524250" y="2571750"/>
            <a:ext cx="5143500" cy="2095500"/>
            <a:chOff x="3524250" y="2571750"/>
            <a:chExt cx="5143500" cy="2095500"/>
          </a:xfrm>
        </p:grpSpPr>
        <p:sp>
          <p:nvSpPr>
            <p:cNvPr id="25" name="Line 25"/>
            <p:cNvSpPr/>
            <p:nvPr/>
          </p:nvSpPr>
          <p:spPr>
            <a:xfrm>
              <a:off x="3524250" y="2571750"/>
              <a:ext cx="1809750" cy="381000"/>
            </a:xfrm>
            <a:custGeom>
              <a:avLst/>
              <a:gdLst/>
              <a:ahLst/>
              <a:cxnLst/>
              <a:rect l="l" t="t" r="r" b="b"/>
              <a:pathLst>
                <a:path w="1809750" h="381000">
                  <a:moveTo>
                    <a:pt x="0" y="0"/>
                  </a:moveTo>
                  <a:lnTo>
                    <a:pt x="1809750" y="38100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0066CC">
                      <a:alpha val="60000"/>
                    </a:srgbClr>
                  </a:gs>
                  <a:gs pos="100000">
                    <a:srgbClr val="00D4FF">
                      <a:alpha val="60000"/>
                    </a:srgbClr>
                  </a:gs>
                </a:gsLst>
                <a:lin ang="2700000" scaled="1"/>
              </a:gradFill>
            </a:ln>
          </p:spPr>
        </p:sp>
        <p:sp>
          <p:nvSpPr>
            <p:cNvPr id="26" name="Line 26"/>
            <p:cNvSpPr/>
            <p:nvPr/>
          </p:nvSpPr>
          <p:spPr>
            <a:xfrm>
              <a:off x="6858000" y="2571750"/>
              <a:ext cx="1809750" cy="381000"/>
            </a:xfrm>
            <a:custGeom>
              <a:avLst/>
              <a:gdLst/>
              <a:ahLst/>
              <a:cxnLst/>
              <a:rect l="l" t="t" r="r" b="b"/>
              <a:pathLst>
                <a:path w="1809750" h="381000">
                  <a:moveTo>
                    <a:pt x="180975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0066CC">
                      <a:alpha val="60000"/>
                    </a:srgbClr>
                  </a:gs>
                  <a:gs pos="100000">
                    <a:srgbClr val="00D4FF">
                      <a:alpha val="60000"/>
                    </a:srgbClr>
                  </a:gs>
                </a:gsLst>
                <a:lin ang="2700000" scaled="1"/>
              </a:gradFill>
            </a:ln>
          </p:spPr>
        </p:sp>
        <p:sp>
          <p:nvSpPr>
            <p:cNvPr id="27" name="Line 27"/>
            <p:cNvSpPr/>
            <p:nvPr/>
          </p:nvSpPr>
          <p:spPr>
            <a:xfrm>
              <a:off x="3524250" y="3524250"/>
              <a:ext cx="1809750" cy="1143000"/>
            </a:xfrm>
            <a:custGeom>
              <a:avLst/>
              <a:gdLst/>
              <a:ahLst/>
              <a:cxnLst/>
              <a:rect l="l" t="t" r="r" b="b"/>
              <a:pathLst>
                <a:path w="1809750" h="1143000">
                  <a:moveTo>
                    <a:pt x="0" y="1143000"/>
                  </a:moveTo>
                  <a:lnTo>
                    <a:pt x="180975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0066CC">
                      <a:alpha val="60000"/>
                    </a:srgbClr>
                  </a:gs>
                  <a:gs pos="100000">
                    <a:srgbClr val="00D4FF">
                      <a:alpha val="60000"/>
                    </a:srgbClr>
                  </a:gs>
                </a:gsLst>
                <a:lin ang="2700000" scaled="1"/>
              </a:gradFill>
            </a:ln>
          </p:spPr>
        </p:sp>
        <p:sp>
          <p:nvSpPr>
            <p:cNvPr id="28" name="Line 28"/>
            <p:cNvSpPr/>
            <p:nvPr/>
          </p:nvSpPr>
          <p:spPr>
            <a:xfrm>
              <a:off x="6858000" y="3524250"/>
              <a:ext cx="1809750" cy="1143000"/>
            </a:xfrm>
            <a:custGeom>
              <a:avLst/>
              <a:gdLst/>
              <a:ahLst/>
              <a:cxnLst/>
              <a:rect l="l" t="t" r="r" b="b"/>
              <a:pathLst>
                <a:path w="1809750" h="1143000">
                  <a:moveTo>
                    <a:pt x="1809750" y="1143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0066CC">
                      <a:alpha val="60000"/>
                    </a:srgbClr>
                  </a:gs>
                  <a:gs pos="100000">
                    <a:srgbClr val="00D4FF">
                      <a:alpha val="60000"/>
                    </a:srgbClr>
                  </a:gs>
                </a:gsLst>
                <a:lin ang="2700000" scaled="1"/>
              </a:gra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2346960" y="5711190"/>
            <a:ext cx="3123038" cy="365760"/>
            <a:chOff x="2346960" y="5711190"/>
            <a:chExt cx="3123038" cy="365760"/>
          </a:xfrm>
        </p:grpSpPr>
        <p:sp>
          <p:nvSpPr>
            <p:cNvPr id="30" name="TextBox 30"/>
            <p:cNvSpPr txBox="1"/>
            <p:nvPr/>
          </p:nvSpPr>
          <p:spPr>
            <a:xfrm>
              <a:off x="2346960" y="57759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多模态模型准确率提升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17002" y="571119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+65%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16116" y="655415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6 / 10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3A5F"/>
              </a:gs>
              <a:gs pos="100000">
                <a:srgbClr val="0F172A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4830" y="268605"/>
            <a:ext cx="41171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2026 AI Development Trends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222605" y="742950"/>
            <a:ext cx="1746790" cy="182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0" b="1" dirty="0">
                <a:solidFill>
                  <a:srgbClr val="1E3A5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52668" y="1897380"/>
            <a:ext cx="348666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 与行业融合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22598" y="2567940"/>
            <a:ext cx="41468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AI Integration Across Industries</a:t>
            </a:r>
          </a:p>
        </p:txBody>
      </p:sp>
      <p:sp>
        <p:nvSpPr>
          <p:cNvPr id="8" name="Freeform 8"/>
          <p:cNvSpPr/>
          <p:nvPr/>
        </p:nvSpPr>
        <p:spPr>
          <a:xfrm>
            <a:off x="4191000" y="3048000"/>
            <a:ext cx="3810000" cy="38100"/>
          </a:xfrm>
          <a:custGeom>
            <a:avLst/>
            <a:gdLst/>
            <a:ahLst/>
            <a:cxnLst/>
            <a:rect l="l" t="t" r="r" b="b"/>
            <a:pathLst>
              <a:path w="3810000" h="38100">
                <a:moveTo>
                  <a:pt x="19050" y="0"/>
                </a:moveTo>
                <a:lnTo>
                  <a:pt x="3790950" y="0"/>
                </a:lnTo>
                <a:cubicBezTo>
                  <a:pt x="3801471" y="0"/>
                  <a:pt x="3810000" y="8529"/>
                  <a:pt x="3810000" y="19050"/>
                </a:cubicBezTo>
                <a:lnTo>
                  <a:pt x="3810000" y="19050"/>
                </a:lnTo>
                <a:cubicBezTo>
                  <a:pt x="3810000" y="29571"/>
                  <a:pt x="3801471" y="38100"/>
                  <a:pt x="3790950" y="38100"/>
                </a:cubicBezTo>
                <a:lnTo>
                  <a:pt x="19050" y="38100"/>
                </a:lnTo>
                <a:cubicBezTo>
                  <a:pt x="8529" y="38100"/>
                  <a:pt x="0" y="29571"/>
                  <a:pt x="0" y="190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gradFill>
            <a:gsLst>
              <a:gs pos="0">
                <a:srgbClr val="00D4FF"/>
              </a:gs>
              <a:gs pos="100000">
                <a:srgbClr val="0066CC"/>
              </a:gs>
            </a:gsLst>
            <a:lin ang="0" scaled="1"/>
          </a:gra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1333500" y="3619500"/>
            <a:ext cx="2857500" cy="2286000"/>
            <a:chOff x="1333500" y="3619500"/>
            <a:chExt cx="2857500" cy="2286000"/>
          </a:xfrm>
        </p:grpSpPr>
        <p:sp>
          <p:nvSpPr>
            <p:cNvPr id="9" name="Freeform 9"/>
            <p:cNvSpPr/>
            <p:nvPr/>
          </p:nvSpPr>
          <p:spPr>
            <a:xfrm>
              <a:off x="1333500" y="3619500"/>
              <a:ext cx="2857500" cy="2286000"/>
            </a:xfrm>
            <a:custGeom>
              <a:avLst/>
              <a:gdLst/>
              <a:ahLst/>
              <a:cxnLst/>
              <a:rect l="l" t="t" r="r" b="b"/>
              <a:pathLst>
                <a:path w="2857500" h="2286000">
                  <a:moveTo>
                    <a:pt x="114300" y="0"/>
                  </a:moveTo>
                  <a:lnTo>
                    <a:pt x="2743200" y="0"/>
                  </a:lnTo>
                  <a:cubicBezTo>
                    <a:pt x="2806326" y="0"/>
                    <a:pt x="2857500" y="51174"/>
                    <a:pt x="2857500" y="114300"/>
                  </a:cubicBezTo>
                  <a:lnTo>
                    <a:pt x="2857500" y="2171700"/>
                  </a:lnTo>
                  <a:cubicBezTo>
                    <a:pt x="2857500" y="2234826"/>
                    <a:pt x="2806326" y="2286000"/>
                    <a:pt x="27432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571940" y="3707130"/>
              <a:ext cx="38061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87321" y="43776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医疗健康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85665" y="4792028"/>
              <a:ext cx="13531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AI 诊断准确率 95%+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85986" y="5077778"/>
              <a:ext cx="15525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药物研发周期缩短 50%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58187" y="5411152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Healthcare AI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667250" y="3619500"/>
            <a:ext cx="2857500" cy="2286000"/>
            <a:chOff x="4667250" y="3619500"/>
            <a:chExt cx="2857500" cy="2286000"/>
          </a:xfrm>
        </p:grpSpPr>
        <p:sp>
          <p:nvSpPr>
            <p:cNvPr id="16" name="Freeform 16"/>
            <p:cNvSpPr/>
            <p:nvPr/>
          </p:nvSpPr>
          <p:spPr>
            <a:xfrm>
              <a:off x="4667250" y="3619500"/>
              <a:ext cx="2857500" cy="2286000"/>
            </a:xfrm>
            <a:custGeom>
              <a:avLst/>
              <a:gdLst/>
              <a:ahLst/>
              <a:cxnLst/>
              <a:rect l="l" t="t" r="r" b="b"/>
              <a:pathLst>
                <a:path w="2857500" h="2286000">
                  <a:moveTo>
                    <a:pt x="114300" y="0"/>
                  </a:moveTo>
                  <a:lnTo>
                    <a:pt x="2743200" y="0"/>
                  </a:lnTo>
                  <a:cubicBezTo>
                    <a:pt x="2806326" y="0"/>
                    <a:pt x="2857500" y="51174"/>
                    <a:pt x="2857500" y="114300"/>
                  </a:cubicBezTo>
                  <a:lnTo>
                    <a:pt x="2857500" y="2171700"/>
                  </a:lnTo>
                  <a:cubicBezTo>
                    <a:pt x="2857500" y="2234826"/>
                    <a:pt x="2806326" y="2286000"/>
                    <a:pt x="27432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05691" y="3707130"/>
              <a:ext cx="38061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21071" y="43776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金融服务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77564" y="4792028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风险评估效率提升 300%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19736" y="5077778"/>
              <a:ext cx="15525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自动化客服覆盖率 85%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19415" y="5411152"/>
              <a:ext cx="13531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Financial Services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001000" y="3619500"/>
            <a:ext cx="2857500" cy="2286000"/>
            <a:chOff x="8001000" y="3619500"/>
            <a:chExt cx="2857500" cy="2286000"/>
          </a:xfrm>
        </p:grpSpPr>
        <p:sp>
          <p:nvSpPr>
            <p:cNvPr id="23" name="Freeform 23"/>
            <p:cNvSpPr/>
            <p:nvPr/>
          </p:nvSpPr>
          <p:spPr>
            <a:xfrm>
              <a:off x="8001000" y="3619500"/>
              <a:ext cx="2857500" cy="2286000"/>
            </a:xfrm>
            <a:custGeom>
              <a:avLst/>
              <a:gdLst/>
              <a:ahLst/>
              <a:cxnLst/>
              <a:rect l="l" t="t" r="r" b="b"/>
              <a:pathLst>
                <a:path w="2857500" h="2286000">
                  <a:moveTo>
                    <a:pt x="114300" y="0"/>
                  </a:moveTo>
                  <a:lnTo>
                    <a:pt x="2743200" y="0"/>
                  </a:lnTo>
                  <a:cubicBezTo>
                    <a:pt x="2806326" y="0"/>
                    <a:pt x="2857500" y="51174"/>
                    <a:pt x="2857500" y="114300"/>
                  </a:cubicBezTo>
                  <a:lnTo>
                    <a:pt x="2857500" y="2171700"/>
                  </a:lnTo>
                  <a:cubicBezTo>
                    <a:pt x="2857500" y="2234826"/>
                    <a:pt x="2806326" y="2286000"/>
                    <a:pt x="27432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39440" y="3707130"/>
              <a:ext cx="38061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00D4FF"/>
                  </a:solidFill>
                  <a:latin typeface="Arial"/>
                  <a:ea typeface="Microsoft YaHei"/>
                  <a:cs typeface="Arial"/>
                </a:rPr>
                <a:t>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54821" y="4377690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智能制造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30163" y="4792028"/>
              <a:ext cx="13991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生产线效率提升 40%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53486" y="5077778"/>
              <a:ext cx="15525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预测性维护准确率 92%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22816" y="5411152"/>
              <a:ext cx="1613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Smart Manufacturing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216116" y="655415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7 / 10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AFC"/>
              </a:gs>
              <a:gs pos="100000">
                <a:srgbClr val="E2E8F0"/>
              </a:gs>
            </a:gsLst>
            <a:lin ang="54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E3A5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8640" y="300990"/>
            <a:ext cx="166249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 与行业融合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05503" y="113728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E3A5F"/>
                </a:solidFill>
                <a:latin typeface="Arial"/>
                <a:ea typeface="Microsoft YaHei"/>
                <a:cs typeface="Arial"/>
              </a:rPr>
              <a:t>行业应用核心价值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33500" y="1905000"/>
            <a:ext cx="4286250" cy="1905000"/>
            <a:chOff x="1333500" y="1905000"/>
            <a:chExt cx="4286250" cy="1905000"/>
          </a:xfrm>
        </p:grpSpPr>
        <p:sp>
          <p:nvSpPr>
            <p:cNvPr id="6" name="Freeform 6"/>
            <p:cNvSpPr/>
            <p:nvPr/>
          </p:nvSpPr>
          <p:spPr>
            <a:xfrm>
              <a:off x="1333500" y="1905000"/>
              <a:ext cx="4286250" cy="1905000"/>
            </a:xfrm>
            <a:custGeom>
              <a:avLst/>
              <a:gdLst/>
              <a:ahLst/>
              <a:cxnLst/>
              <a:rect l="l" t="t" r="r" b="b"/>
              <a:pathLst>
                <a:path w="4286250" h="1905000">
                  <a:moveTo>
                    <a:pt x="114300" y="0"/>
                  </a:moveTo>
                  <a:lnTo>
                    <a:pt x="4171950" y="0"/>
                  </a:lnTo>
                  <a:cubicBezTo>
                    <a:pt x="4235076" y="0"/>
                    <a:pt x="4286250" y="51174"/>
                    <a:pt x="4286250" y="114300"/>
                  </a:cubicBezTo>
                  <a:lnTo>
                    <a:pt x="4286250" y="1790700"/>
                  </a:lnTo>
                  <a:cubicBezTo>
                    <a:pt x="4286250" y="1853826"/>
                    <a:pt x="4235076" y="1905000"/>
                    <a:pt x="41719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333500" y="190500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28575" y="0"/>
                  </a:moveTo>
                  <a:lnTo>
                    <a:pt x="4257675" y="0"/>
                  </a:lnTo>
                  <a:cubicBezTo>
                    <a:pt x="4273457" y="0"/>
                    <a:pt x="4286250" y="12793"/>
                    <a:pt x="4286250" y="28575"/>
                  </a:cubicBezTo>
                  <a:lnTo>
                    <a:pt x="4286250" y="28575"/>
                  </a:lnTo>
                  <a:cubicBezTo>
                    <a:pt x="4286250" y="44357"/>
                    <a:pt x="4273457" y="57150"/>
                    <a:pt x="4257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00200" y="2219325"/>
              <a:ext cx="11537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⚡ 效率提升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619250" y="2571750"/>
              <a:ext cx="3714750" cy="76200"/>
            </a:xfrm>
            <a:custGeom>
              <a:avLst/>
              <a:gdLst/>
              <a:ahLst/>
              <a:cxnLst/>
              <a:rect l="l" t="t" r="r" b="b"/>
              <a:pathLst>
                <a:path w="3714750" h="76200">
                  <a:moveTo>
                    <a:pt x="38100" y="0"/>
                  </a:moveTo>
                  <a:lnTo>
                    <a:pt x="3676650" y="0"/>
                  </a:lnTo>
                  <a:cubicBezTo>
                    <a:pt x="3697692" y="0"/>
                    <a:pt x="3714750" y="17058"/>
                    <a:pt x="3714750" y="38100"/>
                  </a:cubicBezTo>
                  <a:lnTo>
                    <a:pt x="3714750" y="38100"/>
                  </a:lnTo>
                  <a:cubicBezTo>
                    <a:pt x="3714750" y="59142"/>
                    <a:pt x="3697692" y="76200"/>
                    <a:pt x="3676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619250" y="2571750"/>
              <a:ext cx="3343275" cy="76200"/>
            </a:xfrm>
            <a:custGeom>
              <a:avLst/>
              <a:gdLst/>
              <a:ahLst/>
              <a:cxnLst/>
              <a:rect l="l" t="t" r="r" b="b"/>
              <a:pathLst>
                <a:path w="3343275" h="76200">
                  <a:moveTo>
                    <a:pt x="38100" y="0"/>
                  </a:moveTo>
                  <a:lnTo>
                    <a:pt x="3305175" y="0"/>
                  </a:lnTo>
                  <a:cubicBezTo>
                    <a:pt x="3326217" y="0"/>
                    <a:pt x="3343275" y="17058"/>
                    <a:pt x="3343275" y="38100"/>
                  </a:cubicBezTo>
                  <a:lnTo>
                    <a:pt x="3343275" y="38100"/>
                  </a:lnTo>
                  <a:cubicBezTo>
                    <a:pt x="3343275" y="59142"/>
                    <a:pt x="3326217" y="76200"/>
                    <a:pt x="3305175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92580" y="2678430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87%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70760" y="2775585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平均效率提升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5915" y="312515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流程自动化 + 智能决策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05915" y="3363278"/>
              <a:ext cx="36381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Process automation + intelligent decision making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72250" y="1905000"/>
            <a:ext cx="4286250" cy="1905000"/>
            <a:chOff x="6572250" y="1905000"/>
            <a:chExt cx="4286250" cy="1905000"/>
          </a:xfrm>
        </p:grpSpPr>
        <p:sp>
          <p:nvSpPr>
            <p:cNvPr id="16" name="Freeform 16"/>
            <p:cNvSpPr/>
            <p:nvPr/>
          </p:nvSpPr>
          <p:spPr>
            <a:xfrm>
              <a:off x="6572250" y="1905000"/>
              <a:ext cx="4286250" cy="1905000"/>
            </a:xfrm>
            <a:custGeom>
              <a:avLst/>
              <a:gdLst/>
              <a:ahLst/>
              <a:cxnLst/>
              <a:rect l="l" t="t" r="r" b="b"/>
              <a:pathLst>
                <a:path w="4286250" h="1905000">
                  <a:moveTo>
                    <a:pt x="114300" y="0"/>
                  </a:moveTo>
                  <a:lnTo>
                    <a:pt x="4171950" y="0"/>
                  </a:lnTo>
                  <a:cubicBezTo>
                    <a:pt x="4235076" y="0"/>
                    <a:pt x="4286250" y="51174"/>
                    <a:pt x="4286250" y="114300"/>
                  </a:cubicBezTo>
                  <a:lnTo>
                    <a:pt x="4286250" y="1790700"/>
                  </a:lnTo>
                  <a:cubicBezTo>
                    <a:pt x="4286250" y="1853826"/>
                    <a:pt x="4235076" y="1905000"/>
                    <a:pt x="41719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572250" y="190500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28575" y="0"/>
                  </a:moveTo>
                  <a:lnTo>
                    <a:pt x="4257675" y="0"/>
                  </a:lnTo>
                  <a:cubicBezTo>
                    <a:pt x="4273457" y="0"/>
                    <a:pt x="4286250" y="12793"/>
                    <a:pt x="4286250" y="28575"/>
                  </a:cubicBezTo>
                  <a:lnTo>
                    <a:pt x="4286250" y="28575"/>
                  </a:lnTo>
                  <a:cubicBezTo>
                    <a:pt x="4286250" y="44357"/>
                    <a:pt x="4273457" y="57150"/>
                    <a:pt x="4257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38950" y="2219325"/>
              <a:ext cx="11537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💰 成本优化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858000" y="2571750"/>
              <a:ext cx="3714750" cy="76200"/>
            </a:xfrm>
            <a:custGeom>
              <a:avLst/>
              <a:gdLst/>
              <a:ahLst/>
              <a:cxnLst/>
              <a:rect l="l" t="t" r="r" b="b"/>
              <a:pathLst>
                <a:path w="3714750" h="76200">
                  <a:moveTo>
                    <a:pt x="38100" y="0"/>
                  </a:moveTo>
                  <a:lnTo>
                    <a:pt x="3676650" y="0"/>
                  </a:lnTo>
                  <a:cubicBezTo>
                    <a:pt x="3697692" y="0"/>
                    <a:pt x="3714750" y="17058"/>
                    <a:pt x="3714750" y="38100"/>
                  </a:cubicBezTo>
                  <a:lnTo>
                    <a:pt x="3714750" y="38100"/>
                  </a:lnTo>
                  <a:cubicBezTo>
                    <a:pt x="3714750" y="59142"/>
                    <a:pt x="3697692" y="76200"/>
                    <a:pt x="3676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6858000" y="2571750"/>
              <a:ext cx="2600325" cy="76200"/>
            </a:xfrm>
            <a:custGeom>
              <a:avLst/>
              <a:gdLst/>
              <a:ahLst/>
              <a:cxnLst/>
              <a:rect l="l" t="t" r="r" b="b"/>
              <a:pathLst>
                <a:path w="2600325" h="76200">
                  <a:moveTo>
                    <a:pt x="38100" y="0"/>
                  </a:moveTo>
                  <a:lnTo>
                    <a:pt x="2562225" y="0"/>
                  </a:lnTo>
                  <a:cubicBezTo>
                    <a:pt x="2583267" y="0"/>
                    <a:pt x="2600325" y="17058"/>
                    <a:pt x="2600325" y="38100"/>
                  </a:cubicBezTo>
                  <a:lnTo>
                    <a:pt x="2600325" y="38100"/>
                  </a:lnTo>
                  <a:cubicBezTo>
                    <a:pt x="2600325" y="59142"/>
                    <a:pt x="2583267" y="76200"/>
                    <a:pt x="2562225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31330" y="2678430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70%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09510" y="2775585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运营成本降低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44665" y="31251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人力资源优化配置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44665" y="3363278"/>
              <a:ext cx="17902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Workforce optimization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33500" y="4191000"/>
            <a:ext cx="4286250" cy="1905000"/>
            <a:chOff x="1333500" y="4191000"/>
            <a:chExt cx="4286250" cy="1905000"/>
          </a:xfrm>
        </p:grpSpPr>
        <p:sp>
          <p:nvSpPr>
            <p:cNvPr id="26" name="Freeform 26"/>
            <p:cNvSpPr/>
            <p:nvPr/>
          </p:nvSpPr>
          <p:spPr>
            <a:xfrm>
              <a:off x="1333500" y="4191000"/>
              <a:ext cx="4286250" cy="1905000"/>
            </a:xfrm>
            <a:custGeom>
              <a:avLst/>
              <a:gdLst/>
              <a:ahLst/>
              <a:cxnLst/>
              <a:rect l="l" t="t" r="r" b="b"/>
              <a:pathLst>
                <a:path w="4286250" h="1905000">
                  <a:moveTo>
                    <a:pt x="114300" y="0"/>
                  </a:moveTo>
                  <a:lnTo>
                    <a:pt x="4171950" y="0"/>
                  </a:lnTo>
                  <a:cubicBezTo>
                    <a:pt x="4235076" y="0"/>
                    <a:pt x="4286250" y="51174"/>
                    <a:pt x="4286250" y="114300"/>
                  </a:cubicBezTo>
                  <a:lnTo>
                    <a:pt x="4286250" y="1790700"/>
                  </a:lnTo>
                  <a:cubicBezTo>
                    <a:pt x="4286250" y="1853826"/>
                    <a:pt x="4235076" y="1905000"/>
                    <a:pt x="41719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1333500" y="419100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28575" y="0"/>
                  </a:moveTo>
                  <a:lnTo>
                    <a:pt x="4257675" y="0"/>
                  </a:lnTo>
                  <a:cubicBezTo>
                    <a:pt x="4273457" y="0"/>
                    <a:pt x="4286250" y="12793"/>
                    <a:pt x="4286250" y="28575"/>
                  </a:cubicBezTo>
                  <a:lnTo>
                    <a:pt x="4286250" y="28575"/>
                  </a:lnTo>
                  <a:cubicBezTo>
                    <a:pt x="4286250" y="44357"/>
                    <a:pt x="4273457" y="57150"/>
                    <a:pt x="4257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00200" y="4505325"/>
              <a:ext cx="11537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📈 收入增长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1619250" y="4857750"/>
              <a:ext cx="3714750" cy="76200"/>
            </a:xfrm>
            <a:custGeom>
              <a:avLst/>
              <a:gdLst/>
              <a:ahLst/>
              <a:cxnLst/>
              <a:rect l="l" t="t" r="r" b="b"/>
              <a:pathLst>
                <a:path w="3714750" h="76200">
                  <a:moveTo>
                    <a:pt x="38100" y="0"/>
                  </a:moveTo>
                  <a:lnTo>
                    <a:pt x="3676650" y="0"/>
                  </a:lnTo>
                  <a:cubicBezTo>
                    <a:pt x="3697692" y="0"/>
                    <a:pt x="3714750" y="17058"/>
                    <a:pt x="3714750" y="38100"/>
                  </a:cubicBezTo>
                  <a:lnTo>
                    <a:pt x="3714750" y="38100"/>
                  </a:lnTo>
                  <a:cubicBezTo>
                    <a:pt x="3714750" y="59142"/>
                    <a:pt x="3697692" y="76200"/>
                    <a:pt x="3676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619250" y="4857750"/>
              <a:ext cx="2971800" cy="76200"/>
            </a:xfrm>
            <a:custGeom>
              <a:avLst/>
              <a:gdLst/>
              <a:ahLst/>
              <a:cxnLst/>
              <a:rect l="l" t="t" r="r" b="b"/>
              <a:pathLst>
                <a:path w="2971800" h="76200">
                  <a:moveTo>
                    <a:pt x="38100" y="0"/>
                  </a:moveTo>
                  <a:lnTo>
                    <a:pt x="2933700" y="0"/>
                  </a:lnTo>
                  <a:cubicBezTo>
                    <a:pt x="2954742" y="0"/>
                    <a:pt x="2971800" y="17058"/>
                    <a:pt x="2971800" y="38100"/>
                  </a:cubicBezTo>
                  <a:lnTo>
                    <a:pt x="2971800" y="38100"/>
                  </a:lnTo>
                  <a:cubicBezTo>
                    <a:pt x="2971800" y="59142"/>
                    <a:pt x="2954742" y="76200"/>
                    <a:pt x="29337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592580" y="4964430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80%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70760" y="5061585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企业收入增长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05915" y="541115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新客户获取 + 交叉销售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05915" y="5649278"/>
              <a:ext cx="27486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Customer acquisition + cross-selling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72250" y="4191000"/>
            <a:ext cx="4286250" cy="1905000"/>
            <a:chOff x="6572250" y="4191000"/>
            <a:chExt cx="4286250" cy="1905000"/>
          </a:xfrm>
        </p:grpSpPr>
        <p:sp>
          <p:nvSpPr>
            <p:cNvPr id="36" name="Freeform 36"/>
            <p:cNvSpPr/>
            <p:nvPr/>
          </p:nvSpPr>
          <p:spPr>
            <a:xfrm>
              <a:off x="6572250" y="4191000"/>
              <a:ext cx="4286250" cy="1905000"/>
            </a:xfrm>
            <a:custGeom>
              <a:avLst/>
              <a:gdLst/>
              <a:ahLst/>
              <a:cxnLst/>
              <a:rect l="l" t="t" r="r" b="b"/>
              <a:pathLst>
                <a:path w="4286250" h="1905000">
                  <a:moveTo>
                    <a:pt x="114300" y="0"/>
                  </a:moveTo>
                  <a:lnTo>
                    <a:pt x="4171950" y="0"/>
                  </a:lnTo>
                  <a:cubicBezTo>
                    <a:pt x="4235076" y="0"/>
                    <a:pt x="4286250" y="51174"/>
                    <a:pt x="4286250" y="114300"/>
                  </a:cubicBezTo>
                  <a:lnTo>
                    <a:pt x="4286250" y="1790700"/>
                  </a:lnTo>
                  <a:cubicBezTo>
                    <a:pt x="4286250" y="1853826"/>
                    <a:pt x="4235076" y="1905000"/>
                    <a:pt x="4171950" y="1905000"/>
                  </a:cubicBezTo>
                  <a:lnTo>
                    <a:pt x="114300" y="1905000"/>
                  </a:lnTo>
                  <a:cubicBezTo>
                    <a:pt x="51174" y="1905000"/>
                    <a:pt x="0" y="1853826"/>
                    <a:pt x="0" y="1790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6572250" y="4191000"/>
              <a:ext cx="4286250" cy="57150"/>
            </a:xfrm>
            <a:custGeom>
              <a:avLst/>
              <a:gdLst/>
              <a:ahLst/>
              <a:cxnLst/>
              <a:rect l="l" t="t" r="r" b="b"/>
              <a:pathLst>
                <a:path w="4286250" h="57150">
                  <a:moveTo>
                    <a:pt x="28575" y="0"/>
                  </a:moveTo>
                  <a:lnTo>
                    <a:pt x="4257675" y="0"/>
                  </a:lnTo>
                  <a:cubicBezTo>
                    <a:pt x="4273457" y="0"/>
                    <a:pt x="4286250" y="12793"/>
                    <a:pt x="4286250" y="28575"/>
                  </a:cubicBezTo>
                  <a:lnTo>
                    <a:pt x="4286250" y="28575"/>
                  </a:lnTo>
                  <a:cubicBezTo>
                    <a:pt x="4286250" y="44357"/>
                    <a:pt x="4273457" y="57150"/>
                    <a:pt x="42576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38950" y="4505325"/>
              <a:ext cx="11537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3A5F"/>
                  </a:solidFill>
                  <a:latin typeface="Arial"/>
                  <a:ea typeface="Microsoft YaHei"/>
                  <a:cs typeface="Arial"/>
                </a:rPr>
                <a:t>🎯 客户体验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858000" y="4857750"/>
              <a:ext cx="3714750" cy="76200"/>
            </a:xfrm>
            <a:custGeom>
              <a:avLst/>
              <a:gdLst/>
              <a:ahLst/>
              <a:cxnLst/>
              <a:rect l="l" t="t" r="r" b="b"/>
              <a:pathLst>
                <a:path w="3714750" h="76200">
                  <a:moveTo>
                    <a:pt x="38100" y="0"/>
                  </a:moveTo>
                  <a:lnTo>
                    <a:pt x="3676650" y="0"/>
                  </a:lnTo>
                  <a:cubicBezTo>
                    <a:pt x="3697692" y="0"/>
                    <a:pt x="3714750" y="17058"/>
                    <a:pt x="3714750" y="38100"/>
                  </a:cubicBezTo>
                  <a:lnTo>
                    <a:pt x="3714750" y="38100"/>
                  </a:lnTo>
                  <a:cubicBezTo>
                    <a:pt x="3714750" y="59142"/>
                    <a:pt x="3697692" y="76200"/>
                    <a:pt x="367665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E2E8F0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6858000" y="4857750"/>
              <a:ext cx="3162300" cy="76200"/>
            </a:xfrm>
            <a:custGeom>
              <a:avLst/>
              <a:gdLst/>
              <a:ahLst/>
              <a:cxnLst/>
              <a:rect l="l" t="t" r="r" b="b"/>
              <a:pathLst>
                <a:path w="3162300" h="76200">
                  <a:moveTo>
                    <a:pt x="38100" y="0"/>
                  </a:moveTo>
                  <a:lnTo>
                    <a:pt x="3124200" y="0"/>
                  </a:lnTo>
                  <a:cubicBezTo>
                    <a:pt x="3145242" y="0"/>
                    <a:pt x="3162300" y="17058"/>
                    <a:pt x="3162300" y="38100"/>
                  </a:cubicBezTo>
                  <a:lnTo>
                    <a:pt x="3162300" y="38100"/>
                  </a:lnTo>
                  <a:cubicBezTo>
                    <a:pt x="3162300" y="59142"/>
                    <a:pt x="3145242" y="76200"/>
                    <a:pt x="3124200" y="76200"/>
                  </a:cubicBezTo>
                  <a:lnTo>
                    <a:pt x="38100" y="76200"/>
                  </a:lnTo>
                  <a:cubicBezTo>
                    <a:pt x="17058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gradFill>
              <a:gsLst>
                <a:gs pos="0">
                  <a:srgbClr val="0066CC"/>
                </a:gs>
                <a:gs pos="100000">
                  <a:srgbClr val="00D4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31330" y="4964430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83%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09510" y="5061585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满意度提升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44665" y="5411152"/>
              <a:ext cx="15831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个性化服务 + 快速响应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44665" y="5649278"/>
              <a:ext cx="28406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Personalized service + rapid response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1216116" y="655415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8 / 10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